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774" r:id="rId2"/>
    <p:sldId id="802" r:id="rId3"/>
    <p:sldId id="864" r:id="rId4"/>
    <p:sldId id="865" r:id="rId5"/>
    <p:sldId id="866" r:id="rId6"/>
    <p:sldId id="867" r:id="rId7"/>
    <p:sldId id="877" r:id="rId8"/>
    <p:sldId id="894" r:id="rId9"/>
    <p:sldId id="876" r:id="rId10"/>
    <p:sldId id="879" r:id="rId11"/>
    <p:sldId id="871" r:id="rId12"/>
    <p:sldId id="891" r:id="rId13"/>
    <p:sldId id="889" r:id="rId14"/>
    <p:sldId id="893" r:id="rId15"/>
    <p:sldId id="892" r:id="rId16"/>
    <p:sldId id="872" r:id="rId17"/>
    <p:sldId id="870" r:id="rId18"/>
    <p:sldId id="868" r:id="rId19"/>
    <p:sldId id="881" r:id="rId20"/>
    <p:sldId id="888" r:id="rId21"/>
    <p:sldId id="8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267301-04F9-9290-66EF-F18CF48060E4}" v="125" dt="2024-11-27T13:22:06.501"/>
    <p1510:client id="{5C71BD4B-B537-FDC7-4032-98216C74E522}" v="70" dt="2024-11-27T13:29:38.573"/>
    <p1510:client id="{6767D768-CFF9-7DFC-85D4-1E3430BA70F0}" v="642" dt="2024-11-27T15:44:30.788"/>
    <p1510:client id="{6C8A9143-CC9E-6EFF-94BB-4B979B43741C}" v="11" dt="2024-11-27T09:05:59.146"/>
    <p1510:client id="{6E54BB98-EEFB-2DBB-D4B5-E6C2B19377AE}" v="21" dt="2024-11-27T15:36:19.510"/>
    <p1510:client id="{7CC2399F-C64F-E623-27F7-D6BA364DBCDB}" v="5" dt="2024-11-28T02:49:16.191"/>
    <p1510:client id="{7D3DED5C-31BA-F360-AEEE-5D0EBB1333B6}" v="2035" dt="2024-11-27T09:01:23.483"/>
    <p1510:client id="{7D725362-D423-03FB-6A99-B3C922F5856B}" v="203" dt="2024-11-27T08:48:19.557"/>
    <p1510:client id="{9164EAAC-8AEF-A9FF-7A46-D4883B72CD92}" v="317" dt="2024-11-27T09:30:20.239"/>
    <p1510:client id="{A7F5600D-86E2-C385-6F4F-4894F462A5E5}" v="18" dt="2024-11-28T03:58:07.145"/>
    <p1510:client id="{D81C854C-6D84-EB91-EFB8-CD9BF6BE9946}" v="198" dt="2024-11-27T15:44:42.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00434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7232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33547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52895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95111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97980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52846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15388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03773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26501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77679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11/28/2024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8613442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azur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2000" cy="68580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4400">
              <a:solidFill>
                <a:prstClr val="white"/>
              </a:solidFill>
              <a:latin typeface="Georgia" panose="02040502050405020303" pitchFamily="18" charset="0"/>
            </a:endParaRPr>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429797" y="4747409"/>
            <a:ext cx="4590899" cy="1473199"/>
          </a:xfrm>
          <a:prstGeom prst="rect">
            <a:avLst/>
          </a:prstGeom>
        </p:spPr>
      </p:pic>
      <p:sp>
        <p:nvSpPr>
          <p:cNvPr id="8" name="TextBox 7">
            <a:extLst>
              <a:ext uri="{FF2B5EF4-FFF2-40B4-BE49-F238E27FC236}">
                <a16:creationId xmlns:a16="http://schemas.microsoft.com/office/drawing/2014/main" id="{BE776D66-1F2F-B348-8DC7-42BD5D86556D}"/>
              </a:ext>
            </a:extLst>
          </p:cNvPr>
          <p:cNvSpPr txBox="1"/>
          <p:nvPr/>
        </p:nvSpPr>
        <p:spPr>
          <a:xfrm>
            <a:off x="6428703" y="4056035"/>
            <a:ext cx="5748057" cy="2313454"/>
          </a:xfrm>
          <a:prstGeom prst="rect">
            <a:avLst/>
          </a:prstGeom>
          <a:noFill/>
        </p:spPr>
        <p:txBody>
          <a:bodyPr wrap="square" lIns="91440" tIns="45720" rIns="91440" bIns="45720" rtlCol="0" anchor="t">
            <a:spAutoFit/>
          </a:bodyPr>
          <a:lstStyle/>
          <a:p>
            <a:pPr defTabSz="914400">
              <a:spcAft>
                <a:spcPts val="200"/>
              </a:spcAft>
            </a:pPr>
            <a:endParaRPr lang="en-US" sz="2000" b="1">
              <a:solidFill>
                <a:prstClr val="white"/>
              </a:solidFill>
              <a:latin typeface="Georgia" panose="02040502050405020303" pitchFamily="18" charset="0"/>
            </a:endParaRPr>
          </a:p>
          <a:p>
            <a:pPr>
              <a:spcAft>
                <a:spcPts val="200"/>
              </a:spcAft>
            </a:pPr>
            <a:r>
              <a:rPr lang="en-US" sz="2000" b="1">
                <a:solidFill>
                  <a:prstClr val="white"/>
                </a:solidFill>
                <a:latin typeface="Georgia"/>
              </a:rPr>
              <a:t>Vidya Sri-BL.EN.U4CSE22120</a:t>
            </a:r>
            <a:endParaRPr lang="en-US">
              <a:solidFill>
                <a:prstClr val="white"/>
              </a:solidFill>
            </a:endParaRPr>
          </a:p>
          <a:p>
            <a:pPr>
              <a:spcAft>
                <a:spcPts val="200"/>
              </a:spcAft>
            </a:pPr>
            <a:r>
              <a:rPr lang="en-US" sz="2000" b="1">
                <a:solidFill>
                  <a:prstClr val="white"/>
                </a:solidFill>
                <a:latin typeface="Georgia"/>
              </a:rPr>
              <a:t>Sripriya-BL.EN.U4CSE22121</a:t>
            </a:r>
            <a:endParaRPr lang="en-US">
              <a:solidFill>
                <a:prstClr val="white"/>
              </a:solidFill>
            </a:endParaRPr>
          </a:p>
          <a:p>
            <a:pPr>
              <a:spcAft>
                <a:spcPts val="200"/>
              </a:spcAft>
            </a:pPr>
            <a:r>
              <a:rPr lang="en-US" sz="2000" b="1" err="1">
                <a:solidFill>
                  <a:prstClr val="white"/>
                </a:solidFill>
                <a:latin typeface="Georgia"/>
              </a:rPr>
              <a:t>Likhitha</a:t>
            </a:r>
            <a:r>
              <a:rPr lang="en-US" sz="2000" b="1">
                <a:solidFill>
                  <a:prstClr val="white"/>
                </a:solidFill>
                <a:latin typeface="Georgia"/>
              </a:rPr>
              <a:t> Sri-BL.EN.U4CSE22125</a:t>
            </a:r>
            <a:endParaRPr lang="en-US">
              <a:solidFill>
                <a:prstClr val="white"/>
              </a:solidFill>
            </a:endParaRPr>
          </a:p>
          <a:p>
            <a:pPr defTabSz="914400">
              <a:spcAft>
                <a:spcPts val="200"/>
              </a:spcAft>
            </a:pPr>
            <a:endParaRPr lang="en-US" sz="2000" b="1">
              <a:solidFill>
                <a:prstClr val="white"/>
              </a:solidFill>
              <a:latin typeface="Georgia" panose="02040502050405020303" pitchFamily="18" charset="0"/>
            </a:endParaRPr>
          </a:p>
          <a:p>
            <a:pPr defTabSz="914400"/>
            <a:r>
              <a:rPr lang="en-US">
                <a:solidFill>
                  <a:prstClr val="white"/>
                </a:solidFill>
                <a:latin typeface="Georgia" panose="02040502050405020303" pitchFamily="18" charset="0"/>
              </a:rPr>
              <a:t>Department of Computer Science &amp; Engineering,</a:t>
            </a:r>
          </a:p>
          <a:p>
            <a:pPr defTabSz="914400"/>
            <a:r>
              <a:rPr lang="en-US">
                <a:solidFill>
                  <a:prstClr val="white"/>
                </a:solidFill>
                <a:latin typeface="Georgia" panose="02040502050405020303" pitchFamily="18" charset="0"/>
              </a:rPr>
              <a:t>Amrita School of Engineering, Bengaluru</a:t>
            </a:r>
          </a:p>
        </p:txBody>
      </p:sp>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6269503" y="4914621"/>
            <a:ext cx="0" cy="1441729"/>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2" name="Slide Number Placeholder 1"/>
          <p:cNvSpPr>
            <a:spLocks noGrp="1"/>
          </p:cNvSpPr>
          <p:nvPr>
            <p:ph type="sldNum" sz="quarter" idx="12"/>
          </p:nvPr>
        </p:nvSpPr>
        <p:spPr/>
        <p:txBody>
          <a:bodyPr/>
          <a:lstStyle/>
          <a:p>
            <a:fld id="{71766878-3199-4EAB-94E7-2D6D11070E14}" type="slidenum">
              <a:rPr lang="en-US" smtClean="0"/>
              <a:pPr/>
              <a:t>1</a:t>
            </a:fld>
            <a:endParaRPr lang="en-US"/>
          </a:p>
        </p:txBody>
      </p:sp>
      <p:sp>
        <p:nvSpPr>
          <p:cNvPr id="10" name="Rectangle 9">
            <a:extLst>
              <a:ext uri="{FF2B5EF4-FFF2-40B4-BE49-F238E27FC236}">
                <a16:creationId xmlns:a16="http://schemas.microsoft.com/office/drawing/2014/main" id="{06A3B953-744B-3D4F-8898-C0158B157C87}"/>
              </a:ext>
            </a:extLst>
          </p:cNvPr>
          <p:cNvSpPr/>
          <p:nvPr/>
        </p:nvSpPr>
        <p:spPr>
          <a:xfrm>
            <a:off x="414342" y="1524692"/>
            <a:ext cx="11487140" cy="923330"/>
          </a:xfrm>
          <a:prstGeom prst="rect">
            <a:avLst/>
          </a:prstGeom>
          <a:noFill/>
        </p:spPr>
        <p:txBody>
          <a:bodyPr wrap="square" lIns="91440" tIns="45720" rIns="91440" bIns="45720" anchor="t">
            <a:spAutoFit/>
          </a:bodyPr>
          <a:lstStyle/>
          <a:p>
            <a:pPr algn="ctr" defTabSz="914400"/>
            <a:endParaRPr lang="en-US" sz="5400">
              <a:solidFill>
                <a:prstClr val="white"/>
              </a:solidFill>
              <a:latin typeface="Georgia" panose="02040502050405020303" pitchFamily="18" charset="0"/>
            </a:endParaRPr>
          </a:p>
        </p:txBody>
      </p:sp>
      <p:sp>
        <p:nvSpPr>
          <p:cNvPr id="4" name="TextBox 3">
            <a:extLst>
              <a:ext uri="{FF2B5EF4-FFF2-40B4-BE49-F238E27FC236}">
                <a16:creationId xmlns:a16="http://schemas.microsoft.com/office/drawing/2014/main" id="{5E3C685A-28EE-2A86-796E-E50477FE7124}"/>
              </a:ext>
            </a:extLst>
          </p:cNvPr>
          <p:cNvSpPr txBox="1"/>
          <p:nvPr/>
        </p:nvSpPr>
        <p:spPr>
          <a:xfrm>
            <a:off x="1315794" y="1036333"/>
            <a:ext cx="9409804" cy="3046988"/>
          </a:xfrm>
          <a:prstGeom prst="rect">
            <a:avLst/>
          </a:prstGeom>
          <a:noFill/>
        </p:spPr>
        <p:txBody>
          <a:bodyPr wrap="square" lIns="91440" tIns="45720" rIns="91440" bIns="45720" rtlCol="0" anchor="t">
            <a:spAutoFit/>
          </a:bodyPr>
          <a:lstStyle/>
          <a:p>
            <a:pPr algn="ctr"/>
            <a:r>
              <a:rPr lang="en-US" sz="4800">
                <a:solidFill>
                  <a:schemeClr val="bg1"/>
                </a:solidFill>
                <a:ea typeface="+mn-lt"/>
                <a:cs typeface="+mn-lt"/>
              </a:rPr>
              <a:t>Predictive Modeling and Analysis of Health</a:t>
            </a:r>
            <a:endParaRPr lang="en-US">
              <a:solidFill>
                <a:schemeClr val="bg1"/>
              </a:solidFill>
            </a:endParaRPr>
          </a:p>
          <a:p>
            <a:pPr algn="ctr"/>
            <a:r>
              <a:rPr lang="en-US" sz="4800">
                <a:solidFill>
                  <a:schemeClr val="bg1"/>
                </a:solidFill>
                <a:ea typeface="+mn-lt"/>
                <a:cs typeface="+mn-lt"/>
              </a:rPr>
              <a:t>Insurance Claims Using Machine Learning</a:t>
            </a:r>
            <a:endParaRPr lang="en-US">
              <a:solidFill>
                <a:schemeClr val="bg1"/>
              </a:solidFill>
            </a:endParaRPr>
          </a:p>
        </p:txBody>
      </p:sp>
    </p:spTree>
    <p:extLst>
      <p:ext uri="{BB962C8B-B14F-4D97-AF65-F5344CB8AC3E}">
        <p14:creationId xmlns:p14="http://schemas.microsoft.com/office/powerpoint/2010/main" val="1398279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89A6B5-C0F5-5944-9623-D5C1946E11C8}"/>
              </a:ext>
            </a:extLst>
          </p:cNvPr>
          <p:cNvSpPr>
            <a:spLocks noGrp="1"/>
          </p:cNvSpPr>
          <p:nvPr>
            <p:ph type="title"/>
          </p:nvPr>
        </p:nvSpPr>
        <p:spPr>
          <a:xfrm>
            <a:off x="686834" y="591344"/>
            <a:ext cx="3200400" cy="5585619"/>
          </a:xfrm>
        </p:spPr>
        <p:txBody>
          <a:bodyPr>
            <a:normAutofit/>
          </a:bodyPr>
          <a:lstStyle/>
          <a:p>
            <a:r>
              <a:rPr lang="en-US">
                <a:solidFill>
                  <a:srgbClr val="FFFFFF"/>
                </a:solidFill>
                <a:latin typeface="Georgia"/>
              </a:rPr>
              <a:t>Overview</a:t>
            </a:r>
            <a:endParaRPr lang="en-US">
              <a:solidFill>
                <a:srgbClr val="FFFFFF"/>
              </a:solidFill>
            </a:endParaRPr>
          </a:p>
        </p:txBody>
      </p:sp>
      <p:sp>
        <p:nvSpPr>
          <p:cNvPr id="2" name="Content Placeholder 1">
            <a:extLst>
              <a:ext uri="{FF2B5EF4-FFF2-40B4-BE49-F238E27FC236}">
                <a16:creationId xmlns:a16="http://schemas.microsoft.com/office/drawing/2014/main" id="{C055A77D-7B36-3147-818D-85AAFF957124}"/>
              </a:ext>
            </a:extLst>
          </p:cNvPr>
          <p:cNvSpPr>
            <a:spLocks noGrp="1"/>
          </p:cNvSpPr>
          <p:nvPr>
            <p:ph idx="1"/>
          </p:nvPr>
        </p:nvSpPr>
        <p:spPr>
          <a:xfrm>
            <a:off x="165594" y="470392"/>
            <a:ext cx="9204585" cy="6625808"/>
          </a:xfrm>
        </p:spPr>
        <p:txBody>
          <a:bodyPr vert="horz" lIns="91440" tIns="45720" rIns="91440" bIns="45720" rtlCol="0" anchor="ctr">
            <a:normAutofit/>
          </a:bodyPr>
          <a:lstStyle/>
          <a:p>
            <a:r>
              <a:rPr lang="en-US" sz="2400">
                <a:latin typeface="Beirut" pitchFamily="2" charset="-78"/>
                <a:cs typeface="Beirut" pitchFamily="2" charset="-78"/>
              </a:rPr>
              <a:t>Introduction</a:t>
            </a:r>
          </a:p>
          <a:p>
            <a:r>
              <a:rPr lang="en-US" sz="2400">
                <a:latin typeface="Beirut" pitchFamily="2" charset="-78"/>
                <a:cs typeface="Beirut" pitchFamily="2" charset="-78"/>
              </a:rPr>
              <a:t>Problem Statement</a:t>
            </a:r>
          </a:p>
          <a:p>
            <a:r>
              <a:rPr lang="en-US" sz="2400">
                <a:latin typeface="Beirut" pitchFamily="2" charset="-78"/>
                <a:cs typeface="Beirut" pitchFamily="2" charset="-78"/>
              </a:rPr>
              <a:t>Background and Motivation</a:t>
            </a:r>
          </a:p>
          <a:p>
            <a:r>
              <a:rPr lang="en-US" sz="2400">
                <a:latin typeface="Beirut" pitchFamily="2" charset="-78"/>
                <a:cs typeface="Beirut" pitchFamily="2" charset="-78"/>
              </a:rPr>
              <a:t>Literature Review</a:t>
            </a:r>
          </a:p>
          <a:p>
            <a:r>
              <a:rPr lang="en-US" sz="2400">
                <a:latin typeface="Beirut" pitchFamily="2" charset="-78"/>
                <a:cs typeface="Beirut" pitchFamily="2" charset="-78"/>
              </a:rPr>
              <a:t>System Architecture</a:t>
            </a:r>
          </a:p>
          <a:p>
            <a:r>
              <a:rPr lang="en-US" sz="2400">
                <a:latin typeface="Beirut" pitchFamily="2" charset="-78"/>
                <a:cs typeface="Beirut" pitchFamily="2" charset="-78"/>
              </a:rPr>
              <a:t>Methodology</a:t>
            </a:r>
          </a:p>
          <a:p>
            <a:r>
              <a:rPr lang="en-US" sz="2400">
                <a:latin typeface="Beirut" pitchFamily="2" charset="-78"/>
                <a:cs typeface="Beirut" pitchFamily="2" charset="-78"/>
              </a:rPr>
              <a:t>Results and Analysis</a:t>
            </a:r>
          </a:p>
          <a:p>
            <a:r>
              <a:rPr lang="en-US" sz="2400">
                <a:latin typeface="Beirut" pitchFamily="2" charset="-78"/>
                <a:cs typeface="Beirut" pitchFamily="2" charset="-78"/>
              </a:rPr>
              <a:t>Conclusion</a:t>
            </a:r>
          </a:p>
          <a:p>
            <a:r>
              <a:rPr lang="en-US" sz="2400">
                <a:latin typeface="Beirut" pitchFamily="2" charset="-78"/>
                <a:cs typeface="Beirut" pitchFamily="2" charset="-78"/>
              </a:rPr>
              <a:t>Future Work</a:t>
            </a:r>
          </a:p>
          <a:p>
            <a:r>
              <a:rPr lang="en-US" sz="2400">
                <a:latin typeface="Beirut" pitchFamily="2" charset="-78"/>
                <a:cs typeface="Beirut" pitchFamily="2" charset="-78"/>
              </a:rPr>
              <a:t>References</a:t>
            </a:r>
          </a:p>
        </p:txBody>
      </p:sp>
      <p:sp>
        <p:nvSpPr>
          <p:cNvPr id="4" name="Slide Number Placeholder 3">
            <a:extLst>
              <a:ext uri="{FF2B5EF4-FFF2-40B4-BE49-F238E27FC236}">
                <a16:creationId xmlns:a16="http://schemas.microsoft.com/office/drawing/2014/main" id="{CA201E1A-277C-C44B-A7BD-A6BF0E44493B}"/>
              </a:ext>
            </a:extLst>
          </p:cNvPr>
          <p:cNvSpPr>
            <a:spLocks noGrp="1"/>
          </p:cNvSpPr>
          <p:nvPr>
            <p:ph type="sldNum" sz="quarter" idx="12"/>
          </p:nvPr>
        </p:nvSpPr>
        <p:spPr>
          <a:xfrm>
            <a:off x="9819860" y="6356350"/>
            <a:ext cx="1533939" cy="365125"/>
          </a:xfrm>
        </p:spPr>
        <p:txBody>
          <a:bodyPr>
            <a:normAutofit/>
          </a:bodyPr>
          <a:lstStyle/>
          <a:p>
            <a:pPr>
              <a:spcAft>
                <a:spcPts val="600"/>
              </a:spcAft>
            </a:pPr>
            <a:fld id="{71766878-3199-4EAB-94E7-2D6D11070E14}" type="slidenum">
              <a:rPr lang="en-US" smtClean="0"/>
              <a:pPr>
                <a:spcAft>
                  <a:spcPts val="600"/>
                </a:spcAft>
              </a:pPr>
              <a:t>2</a:t>
            </a:fld>
            <a:endParaRPr lang="en-US"/>
          </a:p>
        </p:txBody>
      </p:sp>
      <p:sp>
        <p:nvSpPr>
          <p:cNvPr id="6" name="TextBox 5">
            <a:extLst>
              <a:ext uri="{FF2B5EF4-FFF2-40B4-BE49-F238E27FC236}">
                <a16:creationId xmlns:a16="http://schemas.microsoft.com/office/drawing/2014/main" id="{619EA4A3-AA4E-9644-CCE6-59B103314E00}"/>
              </a:ext>
            </a:extLst>
          </p:cNvPr>
          <p:cNvSpPr txBox="1"/>
          <p:nvPr/>
        </p:nvSpPr>
        <p:spPr>
          <a:xfrm>
            <a:off x="401739" y="888655"/>
            <a:ext cx="3251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C00000"/>
                </a:solidFill>
                <a:latin typeface="Times New Roman"/>
                <a:cs typeface="Times New Roman"/>
              </a:rPr>
              <a:t>AGENDA</a:t>
            </a:r>
          </a:p>
        </p:txBody>
      </p:sp>
    </p:spTree>
    <p:extLst>
      <p:ext uri="{BB962C8B-B14F-4D97-AF65-F5344CB8AC3E}">
        <p14:creationId xmlns:p14="http://schemas.microsoft.com/office/powerpoint/2010/main" val="3432407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13F7EE-F9CC-2540-E65C-56B6F5504E2F}"/>
              </a:ext>
            </a:extLst>
          </p:cNvPr>
          <p:cNvSpPr>
            <a:spLocks noGrp="1"/>
          </p:cNvSpPr>
          <p:nvPr>
            <p:ph type="title"/>
          </p:nvPr>
        </p:nvSpPr>
        <p:spPr>
          <a:xfrm>
            <a:off x="686834" y="1153572"/>
            <a:ext cx="3200400" cy="4461163"/>
          </a:xfrm>
        </p:spPr>
        <p:txBody>
          <a:bodyPr>
            <a:normAutofit/>
          </a:bodyPr>
          <a:lstStyle/>
          <a:p>
            <a:r>
              <a:rPr lang="en-IN">
                <a:solidFill>
                  <a:srgbClr val="FFFFFF"/>
                </a:solidFill>
              </a:rPr>
              <a:t>Introduction</a:t>
            </a:r>
          </a:p>
        </p:txBody>
      </p:sp>
      <p:sp>
        <p:nvSpPr>
          <p:cNvPr id="5" name="Rectangle 1">
            <a:extLst>
              <a:ext uri="{FF2B5EF4-FFF2-40B4-BE49-F238E27FC236}">
                <a16:creationId xmlns:a16="http://schemas.microsoft.com/office/drawing/2014/main" id="{921526F9-BCA2-60AC-076B-ED28E7603409}"/>
              </a:ext>
            </a:extLst>
          </p:cNvPr>
          <p:cNvSpPr>
            <a:spLocks noGrp="1" noChangeArrowheads="1"/>
          </p:cNvSpPr>
          <p:nvPr>
            <p:ph idx="1"/>
          </p:nvPr>
        </p:nvSpPr>
        <p:spPr bwMode="auto">
          <a:xfrm>
            <a:off x="357161" y="323292"/>
            <a:ext cx="11479557" cy="585367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457200" indent="-457200">
              <a:spcBef>
                <a:spcPct val="0"/>
              </a:spcBef>
              <a:spcAft>
                <a:spcPts val="600"/>
              </a:spcAft>
              <a:buAutoNum type="arabicPeriod"/>
            </a:pPr>
            <a:r>
              <a:rPr lang="en-US" sz="2000" b="1">
                <a:latin typeface="Times New Roman"/>
                <a:ea typeface="+mn-lt"/>
                <a:cs typeface="+mn-lt"/>
              </a:rPr>
              <a:t>Importance of Claims Forecasting in Insurance:</a:t>
            </a:r>
            <a:r>
              <a:rPr lang="en-US" sz="2000">
                <a:latin typeface="Times New Roman"/>
                <a:ea typeface="+mn-lt"/>
                <a:cs typeface="+mn-lt"/>
              </a:rPr>
              <a:t> Claims forecasting is essential for setting appropriate premiums, managing financial risks, and ensuring the profitability of insurance companies. Accurate predictions prevent underpricing or overpricing, impacting long-term profitability, business planning, and solvency capital.</a:t>
            </a:r>
            <a:endParaRPr lang="en-US">
              <a:latin typeface="Aptos" panose="02110004020202020204"/>
              <a:ea typeface="+mn-lt"/>
              <a:cs typeface="+mn-lt"/>
            </a:endParaRPr>
          </a:p>
          <a:p>
            <a:pPr marL="457200" indent="-457200">
              <a:spcBef>
                <a:spcPct val="0"/>
              </a:spcBef>
              <a:spcAft>
                <a:spcPts val="600"/>
              </a:spcAft>
              <a:buAutoNum type="arabicPeriod"/>
            </a:pPr>
            <a:r>
              <a:rPr lang="en-US" sz="2000" b="1">
                <a:latin typeface="Times New Roman"/>
                <a:ea typeface="+mn-lt"/>
                <a:cs typeface="+mn-lt"/>
              </a:rPr>
              <a:t>Traditional vs. Machine Learning Approaches:</a:t>
            </a:r>
            <a:r>
              <a:rPr lang="en-US" sz="2000">
                <a:latin typeface="Times New Roman"/>
                <a:ea typeface="+mn-lt"/>
                <a:cs typeface="+mn-lt"/>
              </a:rPr>
              <a:t> Traditional claims forecasting relies on historical patterns and probability distributions, categorizing claims into small (frequent) and large (severe) events. Machine Learning (ML) techniques like SVM, Decision Trees, Random Forests, and Boosting provide greater accuracy. These methods enhance predictions and help identify key variables in insurance portfolios.</a:t>
            </a:r>
            <a:endParaRPr lang="en-US" sz="2000">
              <a:latin typeface="Times New Roman"/>
              <a:ea typeface="+mn-lt"/>
              <a:cs typeface="Times New Roman"/>
            </a:endParaRPr>
          </a:p>
          <a:p>
            <a:pPr marL="457200" indent="-457200">
              <a:spcBef>
                <a:spcPct val="0"/>
              </a:spcBef>
              <a:spcAft>
                <a:spcPts val="600"/>
              </a:spcAft>
              <a:buAutoNum type="arabicPeriod"/>
            </a:pPr>
            <a:r>
              <a:rPr lang="en-US" sz="2000" b="1">
                <a:latin typeface="Times New Roman"/>
                <a:ea typeface="+mn-lt"/>
                <a:cs typeface="+mn-lt"/>
              </a:rPr>
              <a:t>Advantages of ML in Insurance: </a:t>
            </a:r>
            <a:r>
              <a:rPr lang="en-US" sz="2000">
                <a:latin typeface="Times New Roman"/>
                <a:ea typeface="+mn-lt"/>
                <a:cs typeface="+mn-lt"/>
              </a:rPr>
              <a:t>ML improves fraud detection, client engagement, and operational efficiency in insurance. Significant examples include a healthcare readmission prediction model with 90.69% accuracy and fraud detection in India’s health insurance sector. Innovations like the Automated Doctor Machine in rural India highlight ML’s broader potential in healthcare and insurance.</a:t>
            </a:r>
            <a:endParaRPr lang="en-US" sz="2000">
              <a:latin typeface="Times New Roman"/>
              <a:ea typeface="+mn-lt"/>
              <a:cs typeface="Times New Roman"/>
            </a:endParaRPr>
          </a:p>
          <a:p>
            <a:pPr marL="0" indent="0">
              <a:spcBef>
                <a:spcPct val="0"/>
              </a:spcBef>
              <a:spcAft>
                <a:spcPts val="600"/>
              </a:spcAft>
              <a:buNone/>
            </a:pPr>
            <a:endParaRPr lang="en-US" sz="2000"/>
          </a:p>
        </p:txBody>
      </p:sp>
      <p:sp>
        <p:nvSpPr>
          <p:cNvPr id="4" name="Slide Number Placeholder 3">
            <a:extLst>
              <a:ext uri="{FF2B5EF4-FFF2-40B4-BE49-F238E27FC236}">
                <a16:creationId xmlns:a16="http://schemas.microsoft.com/office/drawing/2014/main" id="{ECD9F8CB-52EC-9DC0-C3F1-0D26AFFE2FF9}"/>
              </a:ext>
            </a:extLst>
          </p:cNvPr>
          <p:cNvSpPr>
            <a:spLocks noGrp="1"/>
          </p:cNvSpPr>
          <p:nvPr>
            <p:ph type="sldNum" sz="quarter" idx="12"/>
          </p:nvPr>
        </p:nvSpPr>
        <p:spPr>
          <a:xfrm>
            <a:off x="9541564" y="6356350"/>
            <a:ext cx="1812235" cy="365125"/>
          </a:xfrm>
        </p:spPr>
        <p:txBody>
          <a:bodyPr>
            <a:normAutofit/>
          </a:bodyPr>
          <a:lstStyle/>
          <a:p>
            <a:pPr>
              <a:spcAft>
                <a:spcPts val="600"/>
              </a:spcAft>
            </a:pPr>
            <a:fld id="{71766878-3199-4EAB-94E7-2D6D11070E14}" type="slidenum">
              <a:rPr lang="en-US" smtClean="0"/>
              <a:pPr>
                <a:spcAft>
                  <a:spcPts val="600"/>
                </a:spcAft>
              </a:pPr>
              <a:t>3</a:t>
            </a:fld>
            <a:endParaRPr lang="en-US"/>
          </a:p>
        </p:txBody>
      </p:sp>
      <p:sp>
        <p:nvSpPr>
          <p:cNvPr id="7" name="TextBox 6">
            <a:extLst>
              <a:ext uri="{FF2B5EF4-FFF2-40B4-BE49-F238E27FC236}">
                <a16:creationId xmlns:a16="http://schemas.microsoft.com/office/drawing/2014/main" id="{431A4F67-3955-C833-802F-7EFA21BB729E}"/>
              </a:ext>
            </a:extLst>
          </p:cNvPr>
          <p:cNvSpPr txBox="1"/>
          <p:nvPr/>
        </p:nvSpPr>
        <p:spPr>
          <a:xfrm>
            <a:off x="361693" y="469152"/>
            <a:ext cx="504040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C00000"/>
                </a:solidFill>
                <a:latin typeface="Times New Roman"/>
                <a:cs typeface="Times New Roman"/>
              </a:rPr>
              <a:t>INTRODUCTION</a:t>
            </a:r>
          </a:p>
        </p:txBody>
      </p:sp>
    </p:spTree>
    <p:extLst>
      <p:ext uri="{BB962C8B-B14F-4D97-AF65-F5344CB8AC3E}">
        <p14:creationId xmlns:p14="http://schemas.microsoft.com/office/powerpoint/2010/main" val="1150179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7142BB-2CB5-3E29-A9C5-0249AD7A92F2}"/>
              </a:ext>
            </a:extLst>
          </p:cNvPr>
          <p:cNvSpPr>
            <a:spLocks noGrp="1"/>
          </p:cNvSpPr>
          <p:nvPr>
            <p:ph type="sldNum" sz="quarter" idx="12"/>
          </p:nvPr>
        </p:nvSpPr>
        <p:spPr>
          <a:xfrm>
            <a:off x="8801100" y="6356350"/>
            <a:ext cx="2743200" cy="365125"/>
          </a:xfrm>
        </p:spPr>
        <p:txBody>
          <a:bodyPr>
            <a:normAutofit/>
          </a:bodyPr>
          <a:lstStyle/>
          <a:p>
            <a:pPr>
              <a:spcAft>
                <a:spcPts val="600"/>
              </a:spcAft>
            </a:pPr>
            <a:fld id="{71766878-3199-4EAB-94E7-2D6D11070E14}" type="slidenum">
              <a:rPr lang="en-US">
                <a:solidFill>
                  <a:schemeClr val="tx1">
                    <a:lumMod val="50000"/>
                    <a:lumOff val="50000"/>
                  </a:schemeClr>
                </a:solidFill>
              </a:rPr>
              <a:pPr>
                <a:spcAft>
                  <a:spcPts val="600"/>
                </a:spcAft>
              </a:pPr>
              <a:t>4</a:t>
            </a:fld>
            <a:endParaRPr lang="en-US">
              <a:solidFill>
                <a:schemeClr val="tx1">
                  <a:lumMod val="50000"/>
                  <a:lumOff val="50000"/>
                </a:schemeClr>
              </a:solidFill>
            </a:endParaRPr>
          </a:p>
        </p:txBody>
      </p:sp>
      <p:sp>
        <p:nvSpPr>
          <p:cNvPr id="130" name="TextBox 129">
            <a:extLst>
              <a:ext uri="{FF2B5EF4-FFF2-40B4-BE49-F238E27FC236}">
                <a16:creationId xmlns:a16="http://schemas.microsoft.com/office/drawing/2014/main" id="{B150D1CD-8BA0-211A-6963-A46EA917ACA8}"/>
              </a:ext>
            </a:extLst>
          </p:cNvPr>
          <p:cNvSpPr txBox="1"/>
          <p:nvPr/>
        </p:nvSpPr>
        <p:spPr>
          <a:xfrm>
            <a:off x="645015" y="566473"/>
            <a:ext cx="11361321"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C00000"/>
                </a:solidFill>
                <a:latin typeface="Times New Roman"/>
                <a:cs typeface="Times New Roman"/>
              </a:rPr>
              <a:t>PROBLEM STATEMENT</a:t>
            </a:r>
            <a:endParaRPr lang="en-US" sz="2800" b="1">
              <a:solidFill>
                <a:srgbClr val="C00000"/>
              </a:solidFill>
              <a:latin typeface="Times New Roman"/>
            </a:endParaRPr>
          </a:p>
          <a:p>
            <a:endParaRPr lang="en-US" sz="2000" b="1">
              <a:ea typeface="+mn-lt"/>
              <a:cs typeface="+mn-lt"/>
            </a:endParaRPr>
          </a:p>
          <a:p>
            <a:r>
              <a:rPr lang="en-US" sz="2000">
                <a:latin typeface="Times New Roman"/>
                <a:ea typeface="+mn-lt"/>
                <a:cs typeface="+mn-lt"/>
              </a:rPr>
              <a:t>Accurately forecasting health insurance claims is critical for determining appropriate premiums, managing financial risks, and ensuring profitability. Traditional methods relying on historical patterns often fail to capture complex relationships in claims behavior, leading to underpricing or overpricing and impacting long-term sustainability. The need for more precise predictions has driven the exploration of machine learning (ML) techniques, which can handle intricate patterns, identify key influencing variables, and enhance operational efficiency. This study addresses the challenge of improving claims forecasting accuracy using ML algorithms to optimize pricing, manage risk, and support data-driven decision-making in health insurance.</a:t>
            </a:r>
          </a:p>
          <a:p>
            <a:endParaRPr lang="en-US" sz="2000"/>
          </a:p>
        </p:txBody>
      </p:sp>
    </p:spTree>
    <p:extLst>
      <p:ext uri="{BB962C8B-B14F-4D97-AF65-F5344CB8AC3E}">
        <p14:creationId xmlns:p14="http://schemas.microsoft.com/office/powerpoint/2010/main" val="1042498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FCA63D-C10C-90B2-F8A3-A80B4D92445A}"/>
              </a:ext>
            </a:extLst>
          </p:cNvPr>
          <p:cNvSpPr>
            <a:spLocks noGrp="1"/>
          </p:cNvSpPr>
          <p:nvPr>
            <p:ph type="title"/>
          </p:nvPr>
        </p:nvSpPr>
        <p:spPr>
          <a:xfrm>
            <a:off x="657982" y="323551"/>
            <a:ext cx="10506456" cy="1014984"/>
          </a:xfrm>
        </p:spPr>
        <p:txBody>
          <a:bodyPr anchor="b">
            <a:normAutofit/>
          </a:bodyPr>
          <a:lstStyle/>
          <a:p>
            <a:r>
              <a:rPr lang="en-IN" sz="2800" b="1">
                <a:solidFill>
                  <a:srgbClr val="C00000"/>
                </a:solidFill>
                <a:latin typeface="Times New Roman"/>
                <a:cs typeface="Times New Roman"/>
              </a:rPr>
              <a:t>BACKROUND AND MOTIVATION</a:t>
            </a:r>
          </a:p>
        </p:txBody>
      </p:sp>
      <p:sp>
        <p:nvSpPr>
          <p:cNvPr id="35" name="Content Placeholder 34">
            <a:extLst>
              <a:ext uri="{FF2B5EF4-FFF2-40B4-BE49-F238E27FC236}">
                <a16:creationId xmlns:a16="http://schemas.microsoft.com/office/drawing/2014/main" id="{F22D3E86-FE04-41CF-B5EF-876A863FD3FD}"/>
              </a:ext>
            </a:extLst>
          </p:cNvPr>
          <p:cNvSpPr>
            <a:spLocks noGrp="1"/>
          </p:cNvSpPr>
          <p:nvPr>
            <p:ph idx="1"/>
          </p:nvPr>
        </p:nvSpPr>
        <p:spPr>
          <a:xfrm>
            <a:off x="390985" y="1497676"/>
            <a:ext cx="11699788" cy="4032122"/>
          </a:xfrm>
        </p:spPr>
        <p:txBody>
          <a:bodyPr vert="horz" lIns="91440" tIns="45720" rIns="91440" bIns="45720" rtlCol="0" anchor="t">
            <a:normAutofit/>
          </a:bodyPr>
          <a:lstStyle/>
          <a:p>
            <a:pPr>
              <a:buNone/>
            </a:pPr>
            <a:r>
              <a:rPr lang="en-US" sz="2200">
                <a:latin typeface="Times New Roman"/>
                <a:ea typeface="+mn-lt"/>
                <a:cs typeface="+mn-lt"/>
              </a:rPr>
              <a:t>    Health insurance is crucial for protecting individuals and businesses from financial burdens caused by medical expenses. Accurately forecasting claims is vital for setting fair premiums, managing risks, and ensuring profitability. Traditional methods often fail to capture complex claims patterns, leading to underpricing or overpricing, which can result in financial losses or customer dissatisfaction. Machine learning (ML) offers advanced capabilities to address these challenges by analyzing intricate relationships and providing more accurate predictions. Algorithms like Ridge Regression and Random Forest process large datasets, identify key factors, and optimize pricing strategies. By adopting ML, insurers can enhance operational efficiency, improve customer satisfaction, and maintain profitability in a competitive market. </a:t>
            </a:r>
            <a:endParaRPr lang="en-US">
              <a:latin typeface="Times New Roman"/>
              <a:cs typeface="Times New Roman"/>
            </a:endParaRPr>
          </a:p>
          <a:p>
            <a:pPr>
              <a:buNone/>
            </a:pPr>
            <a:endParaRPr lang="en-US"/>
          </a:p>
          <a:p>
            <a:pPr>
              <a:buNone/>
            </a:pPr>
            <a:endParaRPr lang="en-US"/>
          </a:p>
        </p:txBody>
      </p:sp>
      <p:sp>
        <p:nvSpPr>
          <p:cNvPr id="4" name="Slide Number Placeholder 3">
            <a:extLst>
              <a:ext uri="{FF2B5EF4-FFF2-40B4-BE49-F238E27FC236}">
                <a16:creationId xmlns:a16="http://schemas.microsoft.com/office/drawing/2014/main" id="{461FF8DE-2087-C1D3-4E83-6F4643726E15}"/>
              </a:ext>
            </a:extLst>
          </p:cNvPr>
          <p:cNvSpPr>
            <a:spLocks noGrp="1"/>
          </p:cNvSpPr>
          <p:nvPr>
            <p:ph type="sldNum" sz="quarter" idx="12"/>
          </p:nvPr>
        </p:nvSpPr>
        <p:spPr>
          <a:xfrm>
            <a:off x="8873254" y="6356350"/>
            <a:ext cx="2477498" cy="365125"/>
          </a:xfrm>
        </p:spPr>
        <p:txBody>
          <a:bodyPr>
            <a:normAutofit/>
          </a:bodyPr>
          <a:lstStyle/>
          <a:p>
            <a:pPr>
              <a:spcAft>
                <a:spcPts val="600"/>
              </a:spcAft>
            </a:pPr>
            <a:fld id="{71766878-3199-4EAB-94E7-2D6D11070E14}" type="slidenum">
              <a:rPr lang="en-US">
                <a:solidFill>
                  <a:schemeClr val="tx1">
                    <a:lumMod val="50000"/>
                    <a:lumOff val="50000"/>
                  </a:schemeClr>
                </a:solidFill>
              </a:rPr>
              <a:pPr>
                <a:spcAft>
                  <a:spcPts val="600"/>
                </a:spcAft>
              </a:pPr>
              <a:t>5</a:t>
            </a:fld>
            <a:endParaRPr lang="en-US">
              <a:solidFill>
                <a:schemeClr val="tx1">
                  <a:lumMod val="50000"/>
                  <a:lumOff val="50000"/>
                </a:schemeClr>
              </a:solidFill>
            </a:endParaRPr>
          </a:p>
        </p:txBody>
      </p:sp>
    </p:spTree>
    <p:extLst>
      <p:ext uri="{BB962C8B-B14F-4D97-AF65-F5344CB8AC3E}">
        <p14:creationId xmlns:p14="http://schemas.microsoft.com/office/powerpoint/2010/main" val="2568507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155494-1C87-F2EE-7B45-B8683087200F}"/>
              </a:ext>
            </a:extLst>
          </p:cNvPr>
          <p:cNvSpPr>
            <a:spLocks noGrp="1"/>
          </p:cNvSpPr>
          <p:nvPr>
            <p:ph type="title"/>
          </p:nvPr>
        </p:nvSpPr>
        <p:spPr>
          <a:xfrm>
            <a:off x="718248" y="475075"/>
            <a:ext cx="6152492" cy="978089"/>
          </a:xfrm>
        </p:spPr>
        <p:txBody>
          <a:bodyPr>
            <a:normAutofit/>
          </a:bodyPr>
          <a:lstStyle/>
          <a:p>
            <a:r>
              <a:rPr lang="en-IN" sz="2800" b="1">
                <a:solidFill>
                  <a:srgbClr val="C00000"/>
                </a:solidFill>
                <a:latin typeface="Times New Roman"/>
                <a:cs typeface="Times New Roman"/>
              </a:rPr>
              <a:t>LITERATURE REVIEW</a:t>
            </a:r>
          </a:p>
        </p:txBody>
      </p:sp>
      <p:sp>
        <p:nvSpPr>
          <p:cNvPr id="5" name="Content Placeholder 4">
            <a:extLst>
              <a:ext uri="{FF2B5EF4-FFF2-40B4-BE49-F238E27FC236}">
                <a16:creationId xmlns:a16="http://schemas.microsoft.com/office/drawing/2014/main" id="{F06D9E2B-A04C-C096-142E-D0A7DD0221F4}"/>
              </a:ext>
            </a:extLst>
          </p:cNvPr>
          <p:cNvSpPr>
            <a:spLocks noGrp="1"/>
          </p:cNvSpPr>
          <p:nvPr>
            <p:ph idx="1"/>
          </p:nvPr>
        </p:nvSpPr>
        <p:spPr>
          <a:xfrm>
            <a:off x="447001" y="1847124"/>
            <a:ext cx="11623975" cy="4262604"/>
          </a:xfrm>
        </p:spPr>
        <p:txBody>
          <a:bodyPr vert="horz" lIns="91440" tIns="45720" rIns="91440" bIns="45720" rtlCol="0" anchor="t">
            <a:noAutofit/>
          </a:bodyPr>
          <a:lstStyle/>
          <a:p>
            <a:pPr marL="457200" indent="-457200">
              <a:buAutoNum type="arabicPeriod"/>
            </a:pPr>
            <a:r>
              <a:rPr lang="en-US" sz="2200">
                <a:latin typeface="Times New Roman"/>
                <a:ea typeface="+mn-lt"/>
                <a:cs typeface="Times New Roman"/>
              </a:rPr>
              <a:t>Machine Learning and Predictive Analytics in Insurance: ML models like </a:t>
            </a:r>
            <a:r>
              <a:rPr lang="en-US" sz="2200" err="1">
                <a:latin typeface="Times New Roman"/>
                <a:ea typeface="+mn-lt"/>
                <a:cs typeface="Times New Roman"/>
              </a:rPr>
              <a:t>XGBoost</a:t>
            </a:r>
            <a:r>
              <a:rPr lang="en-US" sz="2200">
                <a:latin typeface="Times New Roman"/>
                <a:ea typeface="+mn-lt"/>
                <a:cs typeface="Times New Roman"/>
              </a:rPr>
              <a:t>, Gradient Boosting, and Random Forest improve premium prediction, with </a:t>
            </a:r>
            <a:r>
              <a:rPr lang="en-US" sz="2200" err="1">
                <a:latin typeface="Times New Roman"/>
                <a:ea typeface="+mn-lt"/>
                <a:cs typeface="Times New Roman"/>
              </a:rPr>
              <a:t>XGBoost</a:t>
            </a:r>
            <a:r>
              <a:rPr lang="en-US" sz="2200">
                <a:latin typeface="Times New Roman"/>
                <a:ea typeface="+mn-lt"/>
                <a:cs typeface="Times New Roman"/>
              </a:rPr>
              <a:t> showing the best performance. ANN-based regression and Stochastic Gradient Boosting offer high accuracy in healthcare costs and premiums, while SHAP and ICE plots enhance model interpretability.</a:t>
            </a:r>
            <a:endParaRPr lang="en-US" sz="2200">
              <a:latin typeface="Times New Roman"/>
              <a:cs typeface="Times New Roman"/>
            </a:endParaRPr>
          </a:p>
          <a:p>
            <a:pPr marL="457200" indent="-457200">
              <a:buAutoNum type="arabicPeriod"/>
            </a:pPr>
            <a:r>
              <a:rPr lang="en-US" sz="2200">
                <a:latin typeface="Times New Roman"/>
                <a:ea typeface="+mn-lt"/>
                <a:cs typeface="Times New Roman"/>
              </a:rPr>
              <a:t>Big Data and Technological Innovations in Healthcare: Big Data Analytics is revolutionizing healthcare by automating processes, improving clinical support, and streamlining operations, but it also raises ethical concerns like patient privacy and data security, particularly with IoT, blockchain, and SARIMA models.</a:t>
            </a:r>
          </a:p>
          <a:p>
            <a:pPr marL="457200" indent="-457200">
              <a:buAutoNum type="arabicPeriod"/>
            </a:pPr>
            <a:r>
              <a:rPr lang="en-US" sz="2200">
                <a:latin typeface="Times New Roman"/>
                <a:ea typeface="+mn-lt"/>
                <a:cs typeface="Times New Roman"/>
              </a:rPr>
              <a:t>Health Insurance Applications and Challenges: Predictive tools like data mining and regression algorithms help detect fraud, predict hospitalizations, and create tailored policies for SMEs, while advanced technologies like SMART cards and personalized policies tackle operational, ethical, and patient-centric insurance challenges.</a:t>
            </a:r>
            <a:endParaRPr lang="en-US" sz="2200">
              <a:latin typeface="Times New Roman"/>
              <a:cs typeface="Times New Roman"/>
            </a:endParaRPr>
          </a:p>
        </p:txBody>
      </p:sp>
      <p:sp>
        <p:nvSpPr>
          <p:cNvPr id="4" name="Slide Number Placeholder 3">
            <a:extLst>
              <a:ext uri="{FF2B5EF4-FFF2-40B4-BE49-F238E27FC236}">
                <a16:creationId xmlns:a16="http://schemas.microsoft.com/office/drawing/2014/main" id="{8186D223-1066-A13B-0E9D-5DC44E6A4CA6}"/>
              </a:ext>
            </a:extLst>
          </p:cNvPr>
          <p:cNvSpPr>
            <a:spLocks noGrp="1"/>
          </p:cNvSpPr>
          <p:nvPr>
            <p:ph type="sldNum" sz="quarter" idx="12"/>
          </p:nvPr>
        </p:nvSpPr>
        <p:spPr>
          <a:xfrm>
            <a:off x="8801100" y="6356350"/>
            <a:ext cx="2743200" cy="365125"/>
          </a:xfrm>
        </p:spPr>
        <p:txBody>
          <a:bodyPr>
            <a:normAutofit/>
          </a:bodyPr>
          <a:lstStyle/>
          <a:p>
            <a:pPr>
              <a:spcAft>
                <a:spcPts val="600"/>
              </a:spcAft>
            </a:pPr>
            <a:fld id="{71766878-3199-4EAB-94E7-2D6D11070E14}" type="slidenum">
              <a:rPr lang="en-US">
                <a:solidFill>
                  <a:schemeClr val="tx1">
                    <a:lumMod val="50000"/>
                    <a:lumOff val="50000"/>
                  </a:schemeClr>
                </a:solidFill>
              </a:rPr>
              <a:pPr>
                <a:spcAft>
                  <a:spcPts val="600"/>
                </a:spcAft>
              </a:pPr>
              <a:t>6</a:t>
            </a:fld>
            <a:endParaRPr lang="en-US">
              <a:solidFill>
                <a:schemeClr val="tx1">
                  <a:lumMod val="50000"/>
                  <a:lumOff val="50000"/>
                </a:schemeClr>
              </a:solidFill>
            </a:endParaRPr>
          </a:p>
        </p:txBody>
      </p:sp>
    </p:spTree>
    <p:extLst>
      <p:ext uri="{BB962C8B-B14F-4D97-AF65-F5344CB8AC3E}">
        <p14:creationId xmlns:p14="http://schemas.microsoft.com/office/powerpoint/2010/main" val="4154864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EF3709-77FD-83E8-BF0D-924D43E9B9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3E9F2C5-EAA3-3500-DD70-17AE6A72141E}"/>
              </a:ext>
            </a:extLst>
          </p:cNvPr>
          <p:cNvSpPr>
            <a:spLocks noGrp="1"/>
          </p:cNvSpPr>
          <p:nvPr>
            <p:ph type="title"/>
          </p:nvPr>
        </p:nvSpPr>
        <p:spPr>
          <a:xfrm>
            <a:off x="630936" y="454540"/>
            <a:ext cx="6153379" cy="1511420"/>
          </a:xfrm>
        </p:spPr>
        <p:txBody>
          <a:bodyPr anchor="ctr">
            <a:normAutofit/>
          </a:bodyPr>
          <a:lstStyle/>
          <a:p>
            <a:r>
              <a:rPr lang="en-US" sz="3200" b="1">
                <a:solidFill>
                  <a:srgbClr val="C00000"/>
                </a:solidFill>
                <a:latin typeface="Times New Roman"/>
                <a:cs typeface="Times New Roman"/>
              </a:rPr>
              <a:t>System Architecture</a:t>
            </a:r>
          </a:p>
        </p:txBody>
      </p:sp>
      <p:sp>
        <p:nvSpPr>
          <p:cNvPr id="2" name="Content Placeholder 1">
            <a:extLst>
              <a:ext uri="{FF2B5EF4-FFF2-40B4-BE49-F238E27FC236}">
                <a16:creationId xmlns:a16="http://schemas.microsoft.com/office/drawing/2014/main" id="{232F03D1-F97A-2270-2AC1-288386AB8A4D}"/>
              </a:ext>
            </a:extLst>
          </p:cNvPr>
          <p:cNvSpPr>
            <a:spLocks noGrp="1"/>
          </p:cNvSpPr>
          <p:nvPr>
            <p:ph idx="1"/>
          </p:nvPr>
        </p:nvSpPr>
        <p:spPr>
          <a:xfrm>
            <a:off x="4654295" y="502920"/>
            <a:ext cx="6894576" cy="1463040"/>
          </a:xfrm>
        </p:spPr>
        <p:txBody>
          <a:bodyPr anchor="ctr">
            <a:normAutofit/>
          </a:bodyPr>
          <a:lstStyle/>
          <a:p>
            <a:pPr marL="0" indent="0">
              <a:buNone/>
            </a:pPr>
            <a:endParaRPr lang="en-US" sz="2200"/>
          </a:p>
          <a:p>
            <a:endParaRPr lang="en-IN" sz="2200"/>
          </a:p>
        </p:txBody>
      </p:sp>
      <p:sp>
        <p:nvSpPr>
          <p:cNvPr id="4" name="Slide Number Placeholder 3">
            <a:extLst>
              <a:ext uri="{FF2B5EF4-FFF2-40B4-BE49-F238E27FC236}">
                <a16:creationId xmlns:a16="http://schemas.microsoft.com/office/drawing/2014/main" id="{F372B276-646F-8710-E54F-0CF1956491C2}"/>
              </a:ext>
            </a:extLst>
          </p:cNvPr>
          <p:cNvSpPr>
            <a:spLocks noGrp="1"/>
          </p:cNvSpPr>
          <p:nvPr>
            <p:ph type="sldNum" sz="quarter" idx="12"/>
          </p:nvPr>
        </p:nvSpPr>
        <p:spPr/>
        <p:txBody>
          <a:bodyPr>
            <a:normAutofit/>
          </a:bodyPr>
          <a:lstStyle/>
          <a:p>
            <a:pPr>
              <a:spcAft>
                <a:spcPts val="600"/>
              </a:spcAft>
            </a:pPr>
            <a:fld id="{71766878-3199-4EAB-94E7-2D6D11070E14}" type="slidenum">
              <a:rPr lang="en-US"/>
              <a:pPr>
                <a:spcAft>
                  <a:spcPts val="600"/>
                </a:spcAft>
              </a:pPr>
              <a:t>7</a:t>
            </a:fld>
            <a:endParaRPr lang="en-US"/>
          </a:p>
        </p:txBody>
      </p:sp>
      <p:pic>
        <p:nvPicPr>
          <p:cNvPr id="5" name="Picture 4" descr="A diagram of a process&#10;&#10;Description automatically generated">
            <a:extLst>
              <a:ext uri="{FF2B5EF4-FFF2-40B4-BE49-F238E27FC236}">
                <a16:creationId xmlns:a16="http://schemas.microsoft.com/office/drawing/2014/main" id="{8857DEF6-891B-48B0-5067-8F7D17B5A19A}"/>
              </a:ext>
            </a:extLst>
          </p:cNvPr>
          <p:cNvPicPr>
            <a:picLocks noChangeAspect="1"/>
          </p:cNvPicPr>
          <p:nvPr/>
        </p:nvPicPr>
        <p:blipFill>
          <a:blip r:embed="rId2"/>
          <a:stretch>
            <a:fillRect/>
          </a:stretch>
        </p:blipFill>
        <p:spPr>
          <a:xfrm>
            <a:off x="630936" y="2465284"/>
            <a:ext cx="10917936" cy="3610655"/>
          </a:xfrm>
          <a:prstGeom prst="rect">
            <a:avLst/>
          </a:prstGeom>
        </p:spPr>
      </p:pic>
      <p:sp>
        <p:nvSpPr>
          <p:cNvPr id="7" name="TextBox 6">
            <a:extLst>
              <a:ext uri="{FF2B5EF4-FFF2-40B4-BE49-F238E27FC236}">
                <a16:creationId xmlns:a16="http://schemas.microsoft.com/office/drawing/2014/main" id="{4987A1A4-FF93-374F-2D8C-2F35B4978125}"/>
              </a:ext>
            </a:extLst>
          </p:cNvPr>
          <p:cNvSpPr txBox="1"/>
          <p:nvPr/>
        </p:nvSpPr>
        <p:spPr>
          <a:xfrm>
            <a:off x="0" y="0"/>
            <a:ext cx="517888" cy="865848"/>
          </a:xfrm>
          <a:prstGeom prst="rect">
            <a:avLst/>
          </a:prstGeom>
          <a:solidFill>
            <a:schemeClr val="accent2"/>
          </a:solidFill>
        </p:spPr>
        <p:txBody>
          <a:bodyPr wrap="square" rtlCol="0">
            <a:spAutoFit/>
          </a:bodyPr>
          <a:lstStyle/>
          <a:p>
            <a:endParaRPr lang="en-US"/>
          </a:p>
        </p:txBody>
      </p:sp>
      <p:sp>
        <p:nvSpPr>
          <p:cNvPr id="8" name="TextBox 7">
            <a:extLst>
              <a:ext uri="{FF2B5EF4-FFF2-40B4-BE49-F238E27FC236}">
                <a16:creationId xmlns:a16="http://schemas.microsoft.com/office/drawing/2014/main" id="{DA370D55-941A-E3DC-09EC-01954D0355BF}"/>
              </a:ext>
            </a:extLst>
          </p:cNvPr>
          <p:cNvSpPr txBox="1"/>
          <p:nvPr/>
        </p:nvSpPr>
        <p:spPr>
          <a:xfrm>
            <a:off x="11749635" y="0"/>
            <a:ext cx="442366" cy="893439"/>
          </a:xfrm>
          <a:prstGeom prst="rect">
            <a:avLst/>
          </a:prstGeom>
          <a:solidFill>
            <a:schemeClr val="accent2"/>
          </a:solidFill>
        </p:spPr>
        <p:txBody>
          <a:bodyPr wrap="square" rtlCol="0">
            <a:spAutoFit/>
          </a:bodyPr>
          <a:lstStyle/>
          <a:p>
            <a:endParaRPr lang="en-US"/>
          </a:p>
        </p:txBody>
      </p:sp>
    </p:spTree>
    <p:extLst>
      <p:ext uri="{BB962C8B-B14F-4D97-AF65-F5344CB8AC3E}">
        <p14:creationId xmlns:p14="http://schemas.microsoft.com/office/powerpoint/2010/main" val="3573836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EF3709-77FD-83E8-BF0D-924D43E9B9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2F03D1-F97A-2270-2AC1-288386AB8A4D}"/>
              </a:ext>
            </a:extLst>
          </p:cNvPr>
          <p:cNvSpPr>
            <a:spLocks noGrp="1"/>
          </p:cNvSpPr>
          <p:nvPr>
            <p:ph idx="1"/>
          </p:nvPr>
        </p:nvSpPr>
        <p:spPr>
          <a:xfrm>
            <a:off x="4654295" y="502920"/>
            <a:ext cx="6894576" cy="1463040"/>
          </a:xfrm>
        </p:spPr>
        <p:txBody>
          <a:bodyPr anchor="ctr">
            <a:normAutofit/>
          </a:bodyPr>
          <a:lstStyle/>
          <a:p>
            <a:pPr marL="0" indent="0">
              <a:buNone/>
            </a:pPr>
            <a:endParaRPr lang="en-US" sz="2200"/>
          </a:p>
          <a:p>
            <a:endParaRPr lang="en-IN" sz="2200"/>
          </a:p>
        </p:txBody>
      </p:sp>
      <p:sp>
        <p:nvSpPr>
          <p:cNvPr id="4" name="Slide Number Placeholder 3">
            <a:extLst>
              <a:ext uri="{FF2B5EF4-FFF2-40B4-BE49-F238E27FC236}">
                <a16:creationId xmlns:a16="http://schemas.microsoft.com/office/drawing/2014/main" id="{F372B276-646F-8710-E54F-0CF1956491C2}"/>
              </a:ext>
            </a:extLst>
          </p:cNvPr>
          <p:cNvSpPr>
            <a:spLocks noGrp="1"/>
          </p:cNvSpPr>
          <p:nvPr>
            <p:ph type="sldNum" sz="quarter" idx="12"/>
          </p:nvPr>
        </p:nvSpPr>
        <p:spPr/>
        <p:txBody>
          <a:bodyPr>
            <a:normAutofit/>
          </a:bodyPr>
          <a:lstStyle/>
          <a:p>
            <a:pPr>
              <a:spcAft>
                <a:spcPts val="600"/>
              </a:spcAft>
            </a:pPr>
            <a:fld id="{71766878-3199-4EAB-94E7-2D6D11070E14}" type="slidenum">
              <a:rPr lang="en-US"/>
              <a:pPr>
                <a:spcAft>
                  <a:spcPts val="600"/>
                </a:spcAft>
              </a:pPr>
              <a:t>8</a:t>
            </a:fld>
            <a:endParaRPr lang="en-US"/>
          </a:p>
        </p:txBody>
      </p:sp>
      <p:sp>
        <p:nvSpPr>
          <p:cNvPr id="7" name="TextBox 6">
            <a:extLst>
              <a:ext uri="{FF2B5EF4-FFF2-40B4-BE49-F238E27FC236}">
                <a16:creationId xmlns:a16="http://schemas.microsoft.com/office/drawing/2014/main" id="{4987A1A4-FF93-374F-2D8C-2F35B4978125}"/>
              </a:ext>
            </a:extLst>
          </p:cNvPr>
          <p:cNvSpPr txBox="1"/>
          <p:nvPr/>
        </p:nvSpPr>
        <p:spPr>
          <a:xfrm>
            <a:off x="0" y="0"/>
            <a:ext cx="517888" cy="865848"/>
          </a:xfrm>
          <a:prstGeom prst="rect">
            <a:avLst/>
          </a:prstGeom>
          <a:solidFill>
            <a:schemeClr val="accent2"/>
          </a:solidFill>
        </p:spPr>
        <p:txBody>
          <a:bodyPr wrap="square" rtlCol="0">
            <a:spAutoFit/>
          </a:bodyPr>
          <a:lstStyle/>
          <a:p>
            <a:endParaRPr lang="en-US"/>
          </a:p>
        </p:txBody>
      </p:sp>
      <p:sp>
        <p:nvSpPr>
          <p:cNvPr id="8" name="TextBox 7">
            <a:extLst>
              <a:ext uri="{FF2B5EF4-FFF2-40B4-BE49-F238E27FC236}">
                <a16:creationId xmlns:a16="http://schemas.microsoft.com/office/drawing/2014/main" id="{DA370D55-941A-E3DC-09EC-01954D0355BF}"/>
              </a:ext>
            </a:extLst>
          </p:cNvPr>
          <p:cNvSpPr txBox="1"/>
          <p:nvPr/>
        </p:nvSpPr>
        <p:spPr>
          <a:xfrm>
            <a:off x="11749635" y="0"/>
            <a:ext cx="442366" cy="893439"/>
          </a:xfrm>
          <a:prstGeom prst="rect">
            <a:avLst/>
          </a:prstGeom>
          <a:solidFill>
            <a:schemeClr val="accent2"/>
          </a:solidFill>
        </p:spPr>
        <p:txBody>
          <a:bodyPr wrap="square" rtlCol="0">
            <a:spAutoFit/>
          </a:bodyPr>
          <a:lstStyle/>
          <a:p>
            <a:endParaRPr lang="en-US"/>
          </a:p>
        </p:txBody>
      </p:sp>
      <p:pic>
        <p:nvPicPr>
          <p:cNvPr id="6" name="Picture 5" descr="A document with text on it&#10;&#10;Description automatically generated">
            <a:extLst>
              <a:ext uri="{FF2B5EF4-FFF2-40B4-BE49-F238E27FC236}">
                <a16:creationId xmlns:a16="http://schemas.microsoft.com/office/drawing/2014/main" id="{D816D3D4-E2A0-366F-2E1A-0C6B5C434E9F}"/>
              </a:ext>
            </a:extLst>
          </p:cNvPr>
          <p:cNvPicPr>
            <a:picLocks noChangeAspect="1"/>
          </p:cNvPicPr>
          <p:nvPr/>
        </p:nvPicPr>
        <p:blipFill>
          <a:blip r:embed="rId2"/>
          <a:srcRect t="1509" r="109" b="148"/>
          <a:stretch/>
        </p:blipFill>
        <p:spPr>
          <a:xfrm>
            <a:off x="1492330" y="445625"/>
            <a:ext cx="8811886" cy="6402897"/>
          </a:xfrm>
          <a:prstGeom prst="rect">
            <a:avLst/>
          </a:prstGeom>
        </p:spPr>
      </p:pic>
    </p:spTree>
    <p:extLst>
      <p:ext uri="{BB962C8B-B14F-4D97-AF65-F5344CB8AC3E}">
        <p14:creationId xmlns:p14="http://schemas.microsoft.com/office/powerpoint/2010/main" val="1365991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2366A0-6502-C3D5-C019-7B39D887911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70E4D0-CA2B-9671-6064-BBAF0DBD811C}"/>
              </a:ext>
            </a:extLst>
          </p:cNvPr>
          <p:cNvSpPr>
            <a:spLocks noGrp="1"/>
          </p:cNvSpPr>
          <p:nvPr>
            <p:ph type="sldNum" sz="quarter" idx="12"/>
          </p:nvPr>
        </p:nvSpPr>
        <p:spPr>
          <a:xfrm>
            <a:off x="8801100" y="6356350"/>
            <a:ext cx="2743200" cy="365125"/>
          </a:xfrm>
        </p:spPr>
        <p:txBody>
          <a:bodyPr>
            <a:normAutofit/>
          </a:bodyPr>
          <a:lstStyle/>
          <a:p>
            <a:pPr>
              <a:spcAft>
                <a:spcPts val="600"/>
              </a:spcAft>
            </a:pPr>
            <a:fld id="{71766878-3199-4EAB-94E7-2D6D11070E14}" type="slidenum">
              <a:rPr lang="en-US">
                <a:solidFill>
                  <a:schemeClr val="tx1">
                    <a:lumMod val="50000"/>
                    <a:lumOff val="50000"/>
                  </a:schemeClr>
                </a:solidFill>
              </a:rPr>
              <a:pPr>
                <a:spcAft>
                  <a:spcPts val="600"/>
                </a:spcAft>
              </a:pPr>
              <a:t>9</a:t>
            </a:fld>
            <a:endParaRPr lang="en-US">
              <a:solidFill>
                <a:schemeClr val="tx1">
                  <a:lumMod val="50000"/>
                  <a:lumOff val="50000"/>
                </a:schemeClr>
              </a:solidFill>
            </a:endParaRPr>
          </a:p>
        </p:txBody>
      </p:sp>
      <p:sp>
        <p:nvSpPr>
          <p:cNvPr id="13" name="TextBox 12">
            <a:extLst>
              <a:ext uri="{FF2B5EF4-FFF2-40B4-BE49-F238E27FC236}">
                <a16:creationId xmlns:a16="http://schemas.microsoft.com/office/drawing/2014/main" id="{6C9743D5-02D4-B008-5B06-2D4FAA30C629}"/>
              </a:ext>
            </a:extLst>
          </p:cNvPr>
          <p:cNvSpPr txBox="1"/>
          <p:nvPr/>
        </p:nvSpPr>
        <p:spPr>
          <a:xfrm>
            <a:off x="107192" y="1185334"/>
            <a:ext cx="11437681"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200">
                <a:latin typeface="Times New Roman"/>
                <a:ea typeface="+mn-lt"/>
                <a:cs typeface="Times New Roman"/>
              </a:rPr>
              <a:t>Data Collection and Integration: The dataset is gathered from diverse sources including claims, policyholder demographics, and financial transactions, and integrated into a centralized system.</a:t>
            </a:r>
            <a:endParaRPr lang="en-US" sz="2200">
              <a:latin typeface="Times New Roman"/>
              <a:cs typeface="Times New Roman"/>
            </a:endParaRPr>
          </a:p>
          <a:p>
            <a:pPr marL="457200" indent="-457200">
              <a:buAutoNum type="arabicPeriod"/>
            </a:pPr>
            <a:r>
              <a:rPr lang="en-US" sz="2200">
                <a:latin typeface="Times New Roman"/>
                <a:ea typeface="+mn-lt"/>
                <a:cs typeface="Times New Roman"/>
              </a:rPr>
              <a:t>Data Preprocessing: Redundant, irrelevant, or missing data were addressed through techniques like imputation (mean/median), outlier detection (Z-score, IQR), and categorical encoding to ensure data quality for further analysis.</a:t>
            </a:r>
            <a:endParaRPr lang="en-US" sz="2200">
              <a:latin typeface="Times New Roman"/>
              <a:cs typeface="Times New Roman"/>
            </a:endParaRPr>
          </a:p>
          <a:p>
            <a:pPr marL="457200" indent="-457200">
              <a:buAutoNum type="arabicPeriod"/>
            </a:pPr>
            <a:r>
              <a:rPr lang="en-US" sz="2200">
                <a:latin typeface="Times New Roman"/>
                <a:ea typeface="+mn-lt"/>
                <a:cs typeface="Times New Roman"/>
              </a:rPr>
              <a:t>Descriptive Statistics: The distribution of key variables, such as Amount Claimed, Ancillary Claimed Amount, and Amount Paid, was analyzed using mean, variance, skewness, kurtosis, and range to understand data characteristics and variability.</a:t>
            </a:r>
            <a:endParaRPr lang="en-US" sz="2200">
              <a:latin typeface="Times New Roman"/>
              <a:cs typeface="Times New Roman"/>
            </a:endParaRPr>
          </a:p>
          <a:p>
            <a:pPr marL="457200" indent="-457200">
              <a:buAutoNum type="arabicPeriod"/>
            </a:pPr>
            <a:r>
              <a:rPr lang="en-US" sz="2200">
                <a:latin typeface="Times New Roman"/>
                <a:ea typeface="+mn-lt"/>
                <a:cs typeface="Times New Roman"/>
              </a:rPr>
              <a:t>Feature Selection: Features were selected through correlation analysis, Recursive Feature Elimination (RFE), Random Forest, and Lasso Regression to ensure that only meaningful variables were included, reducing multicollinearity and improving model performance.</a:t>
            </a:r>
            <a:endParaRPr lang="en-US" sz="2200">
              <a:latin typeface="Times New Roman"/>
              <a:cs typeface="Times New Roman"/>
            </a:endParaRPr>
          </a:p>
          <a:p>
            <a:pPr marL="342900" indent="-342900">
              <a:buAutoNum type="arabicPeriod"/>
            </a:pPr>
            <a:endParaRPr lang="en-US"/>
          </a:p>
        </p:txBody>
      </p:sp>
      <p:sp>
        <p:nvSpPr>
          <p:cNvPr id="2" name="TextBox 1">
            <a:extLst>
              <a:ext uri="{FF2B5EF4-FFF2-40B4-BE49-F238E27FC236}">
                <a16:creationId xmlns:a16="http://schemas.microsoft.com/office/drawing/2014/main" id="{45357E27-5F34-EDD8-9754-78D0306B5EAD}"/>
              </a:ext>
            </a:extLst>
          </p:cNvPr>
          <p:cNvSpPr txBox="1"/>
          <p:nvPr/>
        </p:nvSpPr>
        <p:spPr>
          <a:xfrm>
            <a:off x="650122" y="358817"/>
            <a:ext cx="377129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C00000"/>
                </a:solidFill>
                <a:latin typeface="Times New Roman"/>
                <a:cs typeface="Times New Roman"/>
              </a:rPr>
              <a:t>METHODOLOGY</a:t>
            </a:r>
          </a:p>
        </p:txBody>
      </p:sp>
    </p:spTree>
    <p:extLst>
      <p:ext uri="{BB962C8B-B14F-4D97-AF65-F5344CB8AC3E}">
        <p14:creationId xmlns:p14="http://schemas.microsoft.com/office/powerpoint/2010/main" val="2420909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B27CCD-F815-F014-C85B-36679C4F1293}"/>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8403F28C-D3D2-CC41-8C7A-8FFA0A4E573D}"/>
              </a:ext>
            </a:extLst>
          </p:cNvPr>
          <p:cNvSpPr>
            <a:spLocks noGrp="1"/>
          </p:cNvSpPr>
          <p:nvPr>
            <p:ph idx="1"/>
          </p:nvPr>
        </p:nvSpPr>
        <p:spPr>
          <a:xfrm>
            <a:off x="185164" y="737678"/>
            <a:ext cx="11982735" cy="5617177"/>
          </a:xfrm>
        </p:spPr>
        <p:txBody>
          <a:bodyPr vert="horz" lIns="91440" tIns="45720" rIns="91440" bIns="45720" rtlCol="0" anchor="t">
            <a:normAutofit/>
          </a:bodyPr>
          <a:lstStyle/>
          <a:p>
            <a:pPr marL="0" indent="0">
              <a:buNone/>
            </a:pPr>
            <a:r>
              <a:rPr lang="en-US" sz="2200">
                <a:latin typeface="Times New Roman"/>
                <a:ea typeface="+mn-lt"/>
                <a:cs typeface="+mn-lt"/>
              </a:rPr>
              <a:t>5.  Regression Analysis: Various machine learning models, including Ridge Regression, Lasso Regression, Decision Tree, Random Forest, and others, were applied to predict the amount paid for insurance claims, using metrics like MSE, RMSE, and R² to assess performance.</a:t>
            </a:r>
            <a:endParaRPr lang="en-US" sz="2200">
              <a:latin typeface="Times New Roman"/>
              <a:ea typeface="+mn-lt"/>
              <a:cs typeface="Times New Roman"/>
            </a:endParaRPr>
          </a:p>
          <a:p>
            <a:pPr marL="0" indent="0">
              <a:buNone/>
            </a:pPr>
            <a:r>
              <a:rPr lang="en-US" sz="2200">
                <a:latin typeface="Times New Roman"/>
                <a:ea typeface="+mn-lt"/>
                <a:cs typeface="+mn-lt"/>
              </a:rPr>
              <a:t>6. Model Performance Evaluation: Ridge Regression was identified as the most effective model, achieving near-perfect R² (1.0) and extremely low Mean MSE, demonstrating minimal error and excellent fit to the data.</a:t>
            </a:r>
            <a:endParaRPr lang="en-US" sz="2200">
              <a:latin typeface="Times New Roman"/>
              <a:ea typeface="+mn-lt"/>
              <a:cs typeface="Times New Roman"/>
            </a:endParaRPr>
          </a:p>
          <a:p>
            <a:pPr marL="0" indent="0">
              <a:buNone/>
            </a:pPr>
            <a:r>
              <a:rPr lang="en-US" sz="2200">
                <a:latin typeface="Times New Roman"/>
                <a:ea typeface="+mn-lt"/>
                <a:cs typeface="+mn-lt"/>
              </a:rPr>
              <a:t>7. Key Predictors: The Amount Claimed and Ancillary Paid Amount were identified as the most influential features in predicting the target variable, Amount Paid.</a:t>
            </a:r>
            <a:endParaRPr lang="en-US" sz="2200">
              <a:latin typeface="Times New Roman"/>
              <a:cs typeface="Times New Roman"/>
            </a:endParaRPr>
          </a:p>
          <a:p>
            <a:pPr marL="0" indent="0">
              <a:buNone/>
            </a:pPr>
            <a:r>
              <a:rPr lang="en-US" sz="2200">
                <a:latin typeface="Times New Roman"/>
                <a:ea typeface="+mn-lt"/>
                <a:cs typeface="+mn-lt"/>
              </a:rPr>
              <a:t>8. SHAP Analysis: SHAP values revealed that Amount Claimed and Amount Adjusted had the most positive influence on the predictions, while </a:t>
            </a:r>
            <a:r>
              <a:rPr lang="en-US" sz="2200" err="1">
                <a:latin typeface="Times New Roman"/>
                <a:ea typeface="+mn-lt"/>
                <a:cs typeface="+mn-lt"/>
              </a:rPr>
              <a:t>CoPay</a:t>
            </a:r>
            <a:r>
              <a:rPr lang="en-US" sz="2200">
                <a:latin typeface="Times New Roman"/>
                <a:ea typeface="+mn-lt"/>
                <a:cs typeface="+mn-lt"/>
              </a:rPr>
              <a:t> Amount and Ancillary Claimed Amount exerted a negative impact on the model’s output.</a:t>
            </a:r>
            <a:endParaRPr lang="en-US" sz="2200">
              <a:latin typeface="Times New Roman"/>
              <a:cs typeface="Times New Roman"/>
            </a:endParaRPr>
          </a:p>
          <a:p>
            <a:pPr marL="0" indent="0">
              <a:buNone/>
            </a:pPr>
            <a:endParaRPr lang="en-US" sz="2200">
              <a:latin typeface="Times New Roman"/>
              <a:cs typeface="Times New Roman"/>
            </a:endParaRPr>
          </a:p>
          <a:p>
            <a:pPr marL="0" indent="0">
              <a:buNone/>
            </a:pPr>
            <a:endParaRPr lang="en-US" sz="2400">
              <a:latin typeface="Times New Roman"/>
              <a:cs typeface="Times New Roman"/>
            </a:endParaRPr>
          </a:p>
          <a:p>
            <a:pPr>
              <a:buAutoNum type="arabicPeriod"/>
            </a:pPr>
            <a:endParaRPr lang="en-US" sz="2400">
              <a:latin typeface="Times New Roman"/>
              <a:cs typeface="Times New Roman"/>
            </a:endParaRPr>
          </a:p>
          <a:p>
            <a:pPr>
              <a:buAutoNum type="arabicPeriod"/>
            </a:pPr>
            <a:endParaRPr lang="en-US"/>
          </a:p>
        </p:txBody>
      </p:sp>
      <p:sp>
        <p:nvSpPr>
          <p:cNvPr id="4" name="Slide Number Placeholder 3">
            <a:extLst>
              <a:ext uri="{FF2B5EF4-FFF2-40B4-BE49-F238E27FC236}">
                <a16:creationId xmlns:a16="http://schemas.microsoft.com/office/drawing/2014/main" id="{7E53E98E-E5E5-0E5B-BCA0-65466A8DBF37}"/>
              </a:ext>
            </a:extLst>
          </p:cNvPr>
          <p:cNvSpPr>
            <a:spLocks noGrp="1"/>
          </p:cNvSpPr>
          <p:nvPr>
            <p:ph type="sldNum" sz="quarter" idx="12"/>
          </p:nvPr>
        </p:nvSpPr>
        <p:spPr>
          <a:xfrm>
            <a:off x="8801100" y="6356350"/>
            <a:ext cx="2743200" cy="365125"/>
          </a:xfrm>
        </p:spPr>
        <p:txBody>
          <a:bodyPr>
            <a:normAutofit/>
          </a:bodyPr>
          <a:lstStyle/>
          <a:p>
            <a:pPr>
              <a:spcAft>
                <a:spcPts val="600"/>
              </a:spcAft>
            </a:pPr>
            <a:fld id="{71766878-3199-4EAB-94E7-2D6D11070E14}" type="slidenum">
              <a:rPr lang="en-US">
                <a:solidFill>
                  <a:schemeClr val="tx1">
                    <a:lumMod val="50000"/>
                    <a:lumOff val="50000"/>
                  </a:schemeClr>
                </a:solidFill>
              </a:rPr>
              <a:pPr>
                <a:spcAft>
                  <a:spcPts val="600"/>
                </a:spcAft>
              </a:pPr>
              <a:t>10</a:t>
            </a:fld>
            <a:endParaRPr lang="en-US">
              <a:solidFill>
                <a:schemeClr val="tx1">
                  <a:lumMod val="50000"/>
                  <a:lumOff val="50000"/>
                </a:schemeClr>
              </a:solidFill>
            </a:endParaRPr>
          </a:p>
        </p:txBody>
      </p:sp>
    </p:spTree>
    <p:extLst>
      <p:ext uri="{BB962C8B-B14F-4D97-AF65-F5344CB8AC3E}">
        <p14:creationId xmlns:p14="http://schemas.microsoft.com/office/powerpoint/2010/main" val="3511985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A6B1F0-63E4-705D-7034-5D7C37ECF0E8}"/>
              </a:ext>
            </a:extLst>
          </p:cNvPr>
          <p:cNvSpPr>
            <a:spLocks noGrp="1"/>
          </p:cNvSpPr>
          <p:nvPr>
            <p:ph type="title"/>
          </p:nvPr>
        </p:nvSpPr>
        <p:spPr>
          <a:xfrm>
            <a:off x="841091" y="715397"/>
            <a:ext cx="10044023" cy="877729"/>
          </a:xfrm>
        </p:spPr>
        <p:txBody>
          <a:bodyPr anchor="ctr">
            <a:normAutofit/>
          </a:bodyPr>
          <a:lstStyle/>
          <a:p>
            <a:r>
              <a:rPr lang="en-IN" sz="2800" b="1">
                <a:solidFill>
                  <a:srgbClr val="C00000"/>
                </a:solidFill>
                <a:latin typeface="Times New Roman"/>
                <a:cs typeface="Times New Roman"/>
              </a:rPr>
              <a:t>RESULT AND ANALYSIS:</a:t>
            </a:r>
          </a:p>
        </p:txBody>
      </p:sp>
      <p:sp>
        <p:nvSpPr>
          <p:cNvPr id="7" name="Content Placeholder 6">
            <a:extLst>
              <a:ext uri="{FF2B5EF4-FFF2-40B4-BE49-F238E27FC236}">
                <a16:creationId xmlns:a16="http://schemas.microsoft.com/office/drawing/2014/main" id="{1E061C54-056E-6042-53C5-5021451A1087}"/>
              </a:ext>
            </a:extLst>
          </p:cNvPr>
          <p:cNvSpPr>
            <a:spLocks noGrp="1"/>
          </p:cNvSpPr>
          <p:nvPr>
            <p:ph idx="1"/>
          </p:nvPr>
        </p:nvSpPr>
        <p:spPr>
          <a:xfrm>
            <a:off x="596295" y="1595815"/>
            <a:ext cx="10515600" cy="4351338"/>
          </a:xfrm>
        </p:spPr>
        <p:txBody>
          <a:bodyPr vert="horz" lIns="91440" tIns="45720" rIns="91440" bIns="45720" rtlCol="0" anchor="t">
            <a:noAutofit/>
          </a:bodyPr>
          <a:lstStyle/>
          <a:p>
            <a:r>
              <a:rPr lang="en-US" sz="2200" dirty="0">
                <a:latin typeface="Times New Roman"/>
                <a:ea typeface="+mn-lt"/>
                <a:cs typeface="+mn-lt"/>
              </a:rPr>
              <a:t>Descriptive Statistics Overview: The data shows significant variability across several variables, with the Amount Claimed (mean = 1021.82) having a wide distribution and rightward skew, suggesting potential outliers. Ancillary Claimed Amount (mean = 201.63) has a higher skew, while Amount Adjusted (mean = 196.83) exhibits a more balanced distribution. Amount Paid (mean = 615.62) also has high variability, reflecting a wide range of paid claim amounts.</a:t>
            </a:r>
            <a:endParaRPr lang="en-US" sz="2200" dirty="0">
              <a:latin typeface="Times New Roman"/>
              <a:cs typeface="Times New Roman"/>
            </a:endParaRPr>
          </a:p>
          <a:p>
            <a:r>
              <a:rPr lang="en-US" sz="2200" dirty="0">
                <a:latin typeface="Times New Roman"/>
                <a:ea typeface="+mn-lt"/>
                <a:cs typeface="+mn-lt"/>
              </a:rPr>
              <a:t>Regression Model Performance: Ridge Regression outperforms all models with a near-perfect R² of 0.92 and minimal error, followed closely by Lasso Regression Extra Trees, Decision Tree, and Random Forest show strong generalization but with slightly higher errors. AdaBoost performs the weakest, with the highest Mean MSE and RMSE.</a:t>
            </a:r>
            <a:endParaRPr lang="en-US" sz="2200" dirty="0">
              <a:latin typeface="Times New Roman"/>
              <a:ea typeface="+mn-lt"/>
              <a:cs typeface="Times New Roman"/>
            </a:endParaRPr>
          </a:p>
          <a:p>
            <a:r>
              <a:rPr lang="en-US" sz="2200" dirty="0">
                <a:latin typeface="Times New Roman"/>
                <a:ea typeface="+mn-lt"/>
                <a:cs typeface="+mn-lt"/>
              </a:rPr>
              <a:t>Feature Importance via Line </a:t>
            </a:r>
            <a:r>
              <a:rPr lang="en-US" sz="2200" dirty="0" err="1">
                <a:latin typeface="Times New Roman"/>
                <a:ea typeface="+mn-lt"/>
                <a:cs typeface="+mn-lt"/>
              </a:rPr>
              <a:t>Analysis:Amount</a:t>
            </a:r>
            <a:r>
              <a:rPr lang="en-US" sz="2200" dirty="0">
                <a:latin typeface="Times New Roman"/>
                <a:ea typeface="+mn-lt"/>
                <a:cs typeface="+mn-lt"/>
              </a:rPr>
              <a:t> Claimed and Ancillary Paid Amount are the most influential features in the prediction model. Changes in these variables significantly impact the model’s output, making them strong predictors of the target variable.</a:t>
            </a:r>
            <a:endParaRPr lang="en-US" sz="2200" dirty="0">
              <a:latin typeface="Times New Roman"/>
              <a:cs typeface="Times New Roman"/>
            </a:endParaRPr>
          </a:p>
          <a:p>
            <a:pPr marL="0" indent="0">
              <a:buNone/>
            </a:pPr>
            <a:endParaRPr lang="en-US" sz="2200" dirty="0">
              <a:latin typeface="Times New Roman"/>
              <a:cs typeface="Times New Roman"/>
            </a:endParaRPr>
          </a:p>
          <a:p>
            <a:pPr marL="0" indent="0">
              <a:buNone/>
            </a:pPr>
            <a:endParaRPr lang="en-US" sz="2000" dirty="0">
              <a:latin typeface="Times New Roman"/>
              <a:cs typeface="Times New Roman"/>
            </a:endParaRPr>
          </a:p>
          <a:p>
            <a:endParaRPr lang="en-US" dirty="0"/>
          </a:p>
        </p:txBody>
      </p:sp>
      <p:sp>
        <p:nvSpPr>
          <p:cNvPr id="4" name="Slide Number Placeholder 3">
            <a:extLst>
              <a:ext uri="{FF2B5EF4-FFF2-40B4-BE49-F238E27FC236}">
                <a16:creationId xmlns:a16="http://schemas.microsoft.com/office/drawing/2014/main" id="{CDE7A4A2-C2C6-EE0D-1672-E9031FA2BA83}"/>
              </a:ext>
            </a:extLst>
          </p:cNvPr>
          <p:cNvSpPr>
            <a:spLocks noGrp="1"/>
          </p:cNvSpPr>
          <p:nvPr>
            <p:ph type="sldNum" sz="quarter" idx="12"/>
          </p:nvPr>
        </p:nvSpPr>
        <p:spPr>
          <a:xfrm>
            <a:off x="11704320" y="6455664"/>
            <a:ext cx="448056" cy="365125"/>
          </a:xfrm>
        </p:spPr>
        <p:txBody>
          <a:bodyPr>
            <a:normAutofit/>
          </a:bodyPr>
          <a:lstStyle/>
          <a:p>
            <a:pPr>
              <a:spcAft>
                <a:spcPts val="600"/>
              </a:spcAft>
            </a:pPr>
            <a:fld id="{71766878-3199-4EAB-94E7-2D6D11070E14}" type="slidenum">
              <a:rPr lang="en-US" sz="1100">
                <a:solidFill>
                  <a:schemeClr val="tx1">
                    <a:lumMod val="50000"/>
                    <a:lumOff val="50000"/>
                  </a:schemeClr>
                </a:solidFill>
              </a:rPr>
              <a:pPr>
                <a:spcAft>
                  <a:spcPts val="600"/>
                </a:spcAft>
              </a:pPr>
              <a:t>11</a:t>
            </a:fld>
            <a:endParaRPr lang="en-US" sz="1100">
              <a:solidFill>
                <a:schemeClr val="tx1">
                  <a:lumMod val="50000"/>
                  <a:lumOff val="50000"/>
                </a:schemeClr>
              </a:solidFill>
            </a:endParaRPr>
          </a:p>
        </p:txBody>
      </p:sp>
    </p:spTree>
    <p:extLst>
      <p:ext uri="{BB962C8B-B14F-4D97-AF65-F5344CB8AC3E}">
        <p14:creationId xmlns:p14="http://schemas.microsoft.com/office/powerpoint/2010/main" val="2200678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A6B1F0-63E4-705D-7034-5D7C37ECF0E8}"/>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Results and Analysis</a:t>
            </a:r>
          </a:p>
        </p:txBody>
      </p:sp>
      <p:pic>
        <p:nvPicPr>
          <p:cNvPr id="6" name="Content Placeholder 5" descr="A table with numbers and a few black text&#10;&#10;Description automatically generated">
            <a:extLst>
              <a:ext uri="{FF2B5EF4-FFF2-40B4-BE49-F238E27FC236}">
                <a16:creationId xmlns:a16="http://schemas.microsoft.com/office/drawing/2014/main" id="{9B0F9FB6-3361-1092-A520-F3FE33D6FB64}"/>
              </a:ext>
            </a:extLst>
          </p:cNvPr>
          <p:cNvPicPr>
            <a:picLocks noGrp="1" noChangeAspect="1"/>
          </p:cNvPicPr>
          <p:nvPr>
            <p:ph idx="1"/>
          </p:nvPr>
        </p:nvPicPr>
        <p:blipFill>
          <a:blip r:embed="rId2"/>
          <a:stretch/>
        </p:blipFill>
        <p:spPr>
          <a:xfrm>
            <a:off x="693516" y="1851357"/>
            <a:ext cx="10515600" cy="3971924"/>
          </a:xfrm>
        </p:spPr>
      </p:pic>
      <p:sp>
        <p:nvSpPr>
          <p:cNvPr id="4" name="Slide Number Placeholder 3">
            <a:extLst>
              <a:ext uri="{FF2B5EF4-FFF2-40B4-BE49-F238E27FC236}">
                <a16:creationId xmlns:a16="http://schemas.microsoft.com/office/drawing/2014/main" id="{CDE7A4A2-C2C6-EE0D-1672-E9031FA2BA83}"/>
              </a:ext>
            </a:extLst>
          </p:cNvPr>
          <p:cNvSpPr>
            <a:spLocks noGrp="1"/>
          </p:cNvSpPr>
          <p:nvPr>
            <p:ph type="sldNum" sz="quarter" idx="12"/>
          </p:nvPr>
        </p:nvSpPr>
        <p:spPr>
          <a:xfrm>
            <a:off x="11704320" y="6455664"/>
            <a:ext cx="448056" cy="365125"/>
          </a:xfrm>
        </p:spPr>
        <p:txBody>
          <a:bodyPr>
            <a:normAutofit/>
          </a:bodyPr>
          <a:lstStyle/>
          <a:p>
            <a:pPr>
              <a:spcAft>
                <a:spcPts val="600"/>
              </a:spcAft>
            </a:pPr>
            <a:fld id="{71766878-3199-4EAB-94E7-2D6D11070E14}" type="slidenum">
              <a:rPr lang="en-US" sz="1100">
                <a:solidFill>
                  <a:schemeClr val="tx1">
                    <a:lumMod val="50000"/>
                    <a:lumOff val="50000"/>
                  </a:schemeClr>
                </a:solidFill>
              </a:rPr>
              <a:pPr>
                <a:spcAft>
                  <a:spcPts val="600"/>
                </a:spcAft>
              </a:pPr>
              <a:t>12</a:t>
            </a:fld>
            <a:endParaRPr lang="en-US" sz="1100">
              <a:solidFill>
                <a:schemeClr val="tx1">
                  <a:lumMod val="50000"/>
                  <a:lumOff val="50000"/>
                </a:schemeClr>
              </a:solidFill>
            </a:endParaRPr>
          </a:p>
        </p:txBody>
      </p:sp>
      <p:sp>
        <p:nvSpPr>
          <p:cNvPr id="9" name="Title 2">
            <a:extLst>
              <a:ext uri="{FF2B5EF4-FFF2-40B4-BE49-F238E27FC236}">
                <a16:creationId xmlns:a16="http://schemas.microsoft.com/office/drawing/2014/main" id="{2E8E0568-5BA2-4FEC-CC84-93D9AEF63986}"/>
              </a:ext>
            </a:extLst>
          </p:cNvPr>
          <p:cNvSpPr txBox="1">
            <a:spLocks/>
          </p:cNvSpPr>
          <p:nvPr/>
        </p:nvSpPr>
        <p:spPr>
          <a:xfrm>
            <a:off x="841091" y="715397"/>
            <a:ext cx="10044023" cy="8777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a:solidFill>
                  <a:srgbClr val="C00000"/>
                </a:solidFill>
                <a:latin typeface="Times New Roman"/>
                <a:cs typeface="Times New Roman"/>
              </a:rPr>
              <a:t>RESULT AND ANALYSIS:</a:t>
            </a:r>
          </a:p>
        </p:txBody>
      </p:sp>
    </p:spTree>
    <p:extLst>
      <p:ext uri="{BB962C8B-B14F-4D97-AF65-F5344CB8AC3E}">
        <p14:creationId xmlns:p14="http://schemas.microsoft.com/office/powerpoint/2010/main" val="2367185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A6B1F0-63E4-705D-7034-5D7C37ECF0E8}"/>
              </a:ext>
            </a:extLst>
          </p:cNvPr>
          <p:cNvSpPr>
            <a:spLocks noGrp="1"/>
          </p:cNvSpPr>
          <p:nvPr>
            <p:ph type="title"/>
          </p:nvPr>
        </p:nvSpPr>
        <p:spPr>
          <a:xfrm>
            <a:off x="638534" y="840789"/>
            <a:ext cx="10044023" cy="877729"/>
          </a:xfrm>
        </p:spPr>
        <p:txBody>
          <a:bodyPr anchor="ctr">
            <a:normAutofit fontScale="90000"/>
          </a:bodyPr>
          <a:lstStyle/>
          <a:p>
            <a:r>
              <a:rPr lang="en-IN" sz="2800" b="1">
                <a:solidFill>
                  <a:srgbClr val="C00000"/>
                </a:solidFill>
                <a:latin typeface="Times New Roman"/>
                <a:cs typeface="Times New Roman"/>
              </a:rPr>
              <a:t>RESULT AND ANALYSIS:</a:t>
            </a:r>
            <a:endParaRPr lang="en-IN" sz="2800">
              <a:solidFill>
                <a:srgbClr val="C00000"/>
              </a:solidFill>
              <a:latin typeface="Times New Roman"/>
              <a:cs typeface="Times New Roman"/>
            </a:endParaRPr>
          </a:p>
          <a:p>
            <a:r>
              <a:rPr lang="en-IN" sz="4000" err="1">
                <a:solidFill>
                  <a:srgbClr val="FFFFFF"/>
                </a:solidFill>
              </a:rPr>
              <a:t>lts</a:t>
            </a:r>
            <a:r>
              <a:rPr lang="en-IN" sz="4000">
                <a:solidFill>
                  <a:srgbClr val="FFFFFF"/>
                </a:solidFill>
              </a:rPr>
              <a:t> and Analysis</a:t>
            </a:r>
            <a:endParaRPr lang="en-IN"/>
          </a:p>
        </p:txBody>
      </p:sp>
      <p:sp>
        <p:nvSpPr>
          <p:cNvPr id="7" name="Content Placeholder 6">
            <a:extLst>
              <a:ext uri="{FF2B5EF4-FFF2-40B4-BE49-F238E27FC236}">
                <a16:creationId xmlns:a16="http://schemas.microsoft.com/office/drawing/2014/main" id="{1E061C54-056E-6042-53C5-5021451A1087}"/>
              </a:ext>
            </a:extLst>
          </p:cNvPr>
          <p:cNvSpPr>
            <a:spLocks noGrp="1"/>
          </p:cNvSpPr>
          <p:nvPr>
            <p:ph idx="1"/>
          </p:nvPr>
        </p:nvSpPr>
        <p:spPr/>
        <p:txBody>
          <a:bodyPr vert="horz" lIns="91440" tIns="45720" rIns="91440" bIns="45720" rtlCol="0" anchor="t">
            <a:normAutofit lnSpcReduction="10000"/>
          </a:bodyPr>
          <a:lstStyle/>
          <a:p>
            <a:r>
              <a:rPr lang="en-US" sz="2200">
                <a:latin typeface="Times New Roman"/>
                <a:ea typeface="+mn-lt"/>
                <a:cs typeface="+mn-lt"/>
              </a:rPr>
              <a:t>SHAP Analysis: Amount Claimed and Amount Adjusted are the most influential features in the model, significantly driving the predictions toward higher values. On the other hand, </a:t>
            </a:r>
            <a:r>
              <a:rPr lang="en-US" sz="2200" err="1">
                <a:latin typeface="Times New Roman"/>
                <a:ea typeface="+mn-lt"/>
                <a:cs typeface="+mn-lt"/>
              </a:rPr>
              <a:t>CoPay</a:t>
            </a:r>
            <a:r>
              <a:rPr lang="en-US" sz="2200">
                <a:latin typeface="Times New Roman"/>
                <a:ea typeface="+mn-lt"/>
                <a:cs typeface="+mn-lt"/>
              </a:rPr>
              <a:t> Amount and Ancillary Claimed Amount exert a negative influence, pulling the model’s predictions lower. This highlights the varying impacts of different features on the overall prediction, with some pushing the outcome higher and others reducing it.</a:t>
            </a:r>
          </a:p>
          <a:p>
            <a:r>
              <a:rPr lang="en-US" sz="2200">
                <a:latin typeface="Times New Roman"/>
                <a:ea typeface="+mn-lt"/>
                <a:cs typeface="+mn-lt"/>
              </a:rPr>
              <a:t>Model Evaluation: Ridge Regression stands out as the most accurate model, offering near-perfect predictions with a minimal Mean Squared Error (MSE) and Root Mean Squared Error (RMSE). The Lasso Regression model is also highly effective, though it has slightly higher error values compared to Ridge.</a:t>
            </a:r>
            <a:endParaRPr lang="en-US" sz="2200">
              <a:latin typeface="Times New Roman"/>
              <a:cs typeface="Times New Roman"/>
            </a:endParaRPr>
          </a:p>
          <a:p>
            <a:r>
              <a:rPr lang="en-US" sz="2200">
                <a:latin typeface="Times New Roman"/>
                <a:cs typeface="Times New Roman"/>
              </a:rPr>
              <a:t>Understanding of Model performance: The combination of Ridge Regression’s strong performance with SHAP  provides a clear understanding of which features most influence the model’s predictions. This insight helps in understanding how different aspects of the claim data contribute to the final decision, offering actionable insights into the factors that matter most in predicting insurance claim outcomes.</a:t>
            </a:r>
            <a:endParaRPr lang="en-US" sz="2200">
              <a:latin typeface="Times New Roman"/>
            </a:endParaRPr>
          </a:p>
          <a:p>
            <a:endParaRPr lang="en-US" sz="2000">
              <a:latin typeface="Aptos"/>
            </a:endParaRPr>
          </a:p>
          <a:p>
            <a:endParaRPr lang="en-US" sz="2000">
              <a:latin typeface="Times New Roman"/>
              <a:ea typeface="+mn-lt"/>
              <a:cs typeface="Times New Roman"/>
            </a:endParaRPr>
          </a:p>
          <a:p>
            <a:endParaRPr lang="en-US" sz="2000">
              <a:latin typeface="Aptos"/>
              <a:cs typeface="Times New Roman"/>
            </a:endParaRPr>
          </a:p>
          <a:p>
            <a:endParaRPr lang="en-US" sz="2000">
              <a:latin typeface="Aptos"/>
              <a:cs typeface="Times New Roman"/>
            </a:endParaRPr>
          </a:p>
          <a:p>
            <a:endParaRPr lang="en-US" sz="2000">
              <a:latin typeface="Times New Roman"/>
              <a:cs typeface="Times New Roman"/>
            </a:endParaRPr>
          </a:p>
          <a:p>
            <a:endParaRPr lang="en-US"/>
          </a:p>
        </p:txBody>
      </p:sp>
      <p:sp>
        <p:nvSpPr>
          <p:cNvPr id="4" name="Slide Number Placeholder 3">
            <a:extLst>
              <a:ext uri="{FF2B5EF4-FFF2-40B4-BE49-F238E27FC236}">
                <a16:creationId xmlns:a16="http://schemas.microsoft.com/office/drawing/2014/main" id="{CDE7A4A2-C2C6-EE0D-1672-E9031FA2BA83}"/>
              </a:ext>
            </a:extLst>
          </p:cNvPr>
          <p:cNvSpPr>
            <a:spLocks noGrp="1"/>
          </p:cNvSpPr>
          <p:nvPr>
            <p:ph type="sldNum" sz="quarter" idx="12"/>
          </p:nvPr>
        </p:nvSpPr>
        <p:spPr>
          <a:xfrm>
            <a:off x="11704320" y="6455664"/>
            <a:ext cx="448056" cy="365125"/>
          </a:xfrm>
        </p:spPr>
        <p:txBody>
          <a:bodyPr>
            <a:normAutofit/>
          </a:bodyPr>
          <a:lstStyle/>
          <a:p>
            <a:pPr>
              <a:spcAft>
                <a:spcPts val="600"/>
              </a:spcAft>
            </a:pPr>
            <a:fld id="{71766878-3199-4EAB-94E7-2D6D11070E14}" type="slidenum">
              <a:rPr lang="en-US" sz="1100">
                <a:solidFill>
                  <a:schemeClr val="tx1">
                    <a:lumMod val="50000"/>
                    <a:lumOff val="50000"/>
                  </a:schemeClr>
                </a:solidFill>
              </a:rPr>
              <a:pPr>
                <a:spcAft>
                  <a:spcPts val="600"/>
                </a:spcAft>
              </a:pPr>
              <a:t>13</a:t>
            </a:fld>
            <a:endParaRPr lang="en-US" sz="1100">
              <a:solidFill>
                <a:schemeClr val="tx1">
                  <a:lumMod val="50000"/>
                  <a:lumOff val="50000"/>
                </a:schemeClr>
              </a:solidFill>
            </a:endParaRPr>
          </a:p>
        </p:txBody>
      </p:sp>
    </p:spTree>
    <p:extLst>
      <p:ext uri="{BB962C8B-B14F-4D97-AF65-F5344CB8AC3E}">
        <p14:creationId xmlns:p14="http://schemas.microsoft.com/office/powerpoint/2010/main" val="1431424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A6B1F0-63E4-705D-7034-5D7C37ECF0E8}"/>
              </a:ext>
            </a:extLst>
          </p:cNvPr>
          <p:cNvSpPr>
            <a:spLocks noGrp="1"/>
          </p:cNvSpPr>
          <p:nvPr>
            <p:ph type="title"/>
          </p:nvPr>
        </p:nvSpPr>
        <p:spPr>
          <a:xfrm>
            <a:off x="667470" y="686460"/>
            <a:ext cx="9243441" cy="877729"/>
          </a:xfrm>
        </p:spPr>
        <p:txBody>
          <a:bodyPr anchor="ctr">
            <a:normAutofit/>
          </a:bodyPr>
          <a:lstStyle/>
          <a:p>
            <a:r>
              <a:rPr lang="en-IN" sz="2800" b="1">
                <a:solidFill>
                  <a:srgbClr val="C00000"/>
                </a:solidFill>
                <a:latin typeface="Times New Roman"/>
                <a:cs typeface="Times New Roman"/>
              </a:rPr>
              <a:t>RESULT AND ANALYSIS:</a:t>
            </a:r>
            <a:endParaRPr lang="en-IN" sz="2800">
              <a:solidFill>
                <a:srgbClr val="C00000"/>
              </a:solidFill>
              <a:latin typeface="Times New Roman"/>
              <a:cs typeface="Times New Roman"/>
            </a:endParaRPr>
          </a:p>
        </p:txBody>
      </p:sp>
      <p:pic>
        <p:nvPicPr>
          <p:cNvPr id="7" name="Content Placeholder 6" descr="A table with numbers and text&#10;&#10;Description automatically generated">
            <a:extLst>
              <a:ext uri="{FF2B5EF4-FFF2-40B4-BE49-F238E27FC236}">
                <a16:creationId xmlns:a16="http://schemas.microsoft.com/office/drawing/2014/main" id="{0343C21B-FC8D-4D41-65C0-1451D2DCC68D}"/>
              </a:ext>
            </a:extLst>
          </p:cNvPr>
          <p:cNvPicPr>
            <a:picLocks noGrp="1" noChangeAspect="1"/>
          </p:cNvPicPr>
          <p:nvPr>
            <p:ph idx="1"/>
          </p:nvPr>
        </p:nvPicPr>
        <p:blipFill>
          <a:blip r:embed="rId2"/>
          <a:srcRect l="50" t="3104" r="69" b="-222"/>
          <a:stretch/>
        </p:blipFill>
        <p:spPr>
          <a:xfrm>
            <a:off x="1368910" y="1709878"/>
            <a:ext cx="8055589" cy="4225915"/>
          </a:xfrm>
        </p:spPr>
      </p:pic>
      <p:sp>
        <p:nvSpPr>
          <p:cNvPr id="4" name="Slide Number Placeholder 3">
            <a:extLst>
              <a:ext uri="{FF2B5EF4-FFF2-40B4-BE49-F238E27FC236}">
                <a16:creationId xmlns:a16="http://schemas.microsoft.com/office/drawing/2014/main" id="{CDE7A4A2-C2C6-EE0D-1672-E9031FA2BA83}"/>
              </a:ext>
            </a:extLst>
          </p:cNvPr>
          <p:cNvSpPr>
            <a:spLocks noGrp="1"/>
          </p:cNvSpPr>
          <p:nvPr>
            <p:ph type="sldNum" sz="quarter" idx="12"/>
          </p:nvPr>
        </p:nvSpPr>
        <p:spPr>
          <a:xfrm>
            <a:off x="11704320" y="6455664"/>
            <a:ext cx="448056" cy="365125"/>
          </a:xfrm>
        </p:spPr>
        <p:txBody>
          <a:bodyPr>
            <a:normAutofit/>
          </a:bodyPr>
          <a:lstStyle/>
          <a:p>
            <a:pPr>
              <a:spcAft>
                <a:spcPts val="600"/>
              </a:spcAft>
            </a:pPr>
            <a:fld id="{71766878-3199-4EAB-94E7-2D6D11070E14}" type="slidenum">
              <a:rPr lang="en-US" sz="1100">
                <a:solidFill>
                  <a:schemeClr val="tx1">
                    <a:lumMod val="50000"/>
                    <a:lumOff val="50000"/>
                  </a:schemeClr>
                </a:solidFill>
              </a:rPr>
              <a:pPr>
                <a:spcAft>
                  <a:spcPts val="600"/>
                </a:spcAft>
              </a:pPr>
              <a:t>14</a:t>
            </a:fld>
            <a:endParaRPr lang="en-US" sz="1100">
              <a:solidFill>
                <a:schemeClr val="tx1">
                  <a:lumMod val="50000"/>
                  <a:lumOff val="50000"/>
                </a:schemeClr>
              </a:solidFill>
            </a:endParaRPr>
          </a:p>
        </p:txBody>
      </p:sp>
    </p:spTree>
    <p:extLst>
      <p:ext uri="{BB962C8B-B14F-4D97-AF65-F5344CB8AC3E}">
        <p14:creationId xmlns:p14="http://schemas.microsoft.com/office/powerpoint/2010/main" val="3538615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A6B1F0-63E4-705D-7034-5D7C37ECF0E8}"/>
              </a:ext>
            </a:extLst>
          </p:cNvPr>
          <p:cNvSpPr>
            <a:spLocks noGrp="1"/>
          </p:cNvSpPr>
          <p:nvPr>
            <p:ph type="title"/>
          </p:nvPr>
        </p:nvSpPr>
        <p:spPr>
          <a:xfrm>
            <a:off x="964015" y="623539"/>
            <a:ext cx="10044023" cy="877729"/>
          </a:xfrm>
        </p:spPr>
        <p:txBody>
          <a:bodyPr anchor="ctr">
            <a:normAutofit/>
          </a:bodyPr>
          <a:lstStyle/>
          <a:p>
            <a:r>
              <a:rPr lang="en-IN" sz="2800" b="1">
                <a:solidFill>
                  <a:srgbClr val="C00000"/>
                </a:solidFill>
                <a:latin typeface="Times New Roman"/>
                <a:cs typeface="Times New Roman"/>
              </a:rPr>
              <a:t>RESULT AND ANALYSIS:</a:t>
            </a:r>
            <a:endParaRPr lang="en-IN" sz="2800">
              <a:solidFill>
                <a:srgbClr val="C00000"/>
              </a:solidFill>
              <a:latin typeface="Times New Roman"/>
              <a:cs typeface="Times New Roman"/>
            </a:endParaRPr>
          </a:p>
        </p:txBody>
      </p:sp>
      <p:pic>
        <p:nvPicPr>
          <p:cNvPr id="6" name="Content Placeholder 5" descr="A graph with different colored lines&#10;&#10;Description automatically generated">
            <a:extLst>
              <a:ext uri="{FF2B5EF4-FFF2-40B4-BE49-F238E27FC236}">
                <a16:creationId xmlns:a16="http://schemas.microsoft.com/office/drawing/2014/main" id="{EE2484D1-D1E9-7359-BA5C-F6CFD6FB6228}"/>
              </a:ext>
            </a:extLst>
          </p:cNvPr>
          <p:cNvPicPr>
            <a:picLocks noGrp="1" noChangeAspect="1"/>
          </p:cNvPicPr>
          <p:nvPr>
            <p:ph idx="1"/>
          </p:nvPr>
        </p:nvPicPr>
        <p:blipFill>
          <a:blip r:embed="rId2"/>
          <a:stretch>
            <a:fillRect/>
          </a:stretch>
        </p:blipFill>
        <p:spPr>
          <a:xfrm>
            <a:off x="2404432" y="1825625"/>
            <a:ext cx="7383136" cy="4351338"/>
          </a:xfrm>
        </p:spPr>
      </p:pic>
      <p:sp>
        <p:nvSpPr>
          <p:cNvPr id="4" name="Slide Number Placeholder 3">
            <a:extLst>
              <a:ext uri="{FF2B5EF4-FFF2-40B4-BE49-F238E27FC236}">
                <a16:creationId xmlns:a16="http://schemas.microsoft.com/office/drawing/2014/main" id="{CDE7A4A2-C2C6-EE0D-1672-E9031FA2BA83}"/>
              </a:ext>
            </a:extLst>
          </p:cNvPr>
          <p:cNvSpPr>
            <a:spLocks noGrp="1"/>
          </p:cNvSpPr>
          <p:nvPr>
            <p:ph type="sldNum" sz="quarter" idx="12"/>
          </p:nvPr>
        </p:nvSpPr>
        <p:spPr>
          <a:xfrm>
            <a:off x="11704320" y="6455664"/>
            <a:ext cx="448056" cy="365125"/>
          </a:xfrm>
        </p:spPr>
        <p:txBody>
          <a:bodyPr>
            <a:normAutofit/>
          </a:bodyPr>
          <a:lstStyle/>
          <a:p>
            <a:pPr>
              <a:spcAft>
                <a:spcPts val="600"/>
              </a:spcAft>
            </a:pPr>
            <a:fld id="{71766878-3199-4EAB-94E7-2D6D11070E14}" type="slidenum">
              <a:rPr lang="en-US" sz="1100">
                <a:solidFill>
                  <a:schemeClr val="tx1">
                    <a:lumMod val="50000"/>
                    <a:lumOff val="50000"/>
                  </a:schemeClr>
                </a:solidFill>
              </a:rPr>
              <a:pPr>
                <a:spcAft>
                  <a:spcPts val="600"/>
                </a:spcAft>
              </a:pPr>
              <a:t>15</a:t>
            </a:fld>
            <a:endParaRPr lang="en-US" sz="1100">
              <a:solidFill>
                <a:schemeClr val="tx1">
                  <a:lumMod val="50000"/>
                  <a:lumOff val="50000"/>
                </a:schemeClr>
              </a:solidFill>
            </a:endParaRPr>
          </a:p>
        </p:txBody>
      </p:sp>
    </p:spTree>
    <p:extLst>
      <p:ext uri="{BB962C8B-B14F-4D97-AF65-F5344CB8AC3E}">
        <p14:creationId xmlns:p14="http://schemas.microsoft.com/office/powerpoint/2010/main" val="1714337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391B76-1AA9-055E-ED1E-2C9C974767A7}"/>
              </a:ext>
            </a:extLst>
          </p:cNvPr>
          <p:cNvSpPr>
            <a:spLocks noGrp="1"/>
          </p:cNvSpPr>
          <p:nvPr>
            <p:ph type="title"/>
          </p:nvPr>
        </p:nvSpPr>
        <p:spPr>
          <a:xfrm>
            <a:off x="1171074" y="1396686"/>
            <a:ext cx="3240506" cy="4064628"/>
          </a:xfrm>
        </p:spPr>
        <p:txBody>
          <a:bodyPr>
            <a:normAutofit/>
          </a:bodyPr>
          <a:lstStyle/>
          <a:p>
            <a:r>
              <a:rPr lang="en-IN">
                <a:solidFill>
                  <a:srgbClr val="FFFFFF"/>
                </a:solidFill>
              </a:rPr>
              <a:t>Conclusions</a:t>
            </a:r>
          </a:p>
        </p:txBody>
      </p:sp>
      <p:sp>
        <p:nvSpPr>
          <p:cNvPr id="5" name="Rectangle 1">
            <a:extLst>
              <a:ext uri="{FF2B5EF4-FFF2-40B4-BE49-F238E27FC236}">
                <a16:creationId xmlns:a16="http://schemas.microsoft.com/office/drawing/2014/main" id="{1E81551E-DAFB-C1F3-7A56-48E814286CD3}"/>
              </a:ext>
            </a:extLst>
          </p:cNvPr>
          <p:cNvSpPr>
            <a:spLocks noGrp="1" noChangeArrowheads="1"/>
          </p:cNvSpPr>
          <p:nvPr>
            <p:ph idx="1"/>
          </p:nvPr>
        </p:nvSpPr>
        <p:spPr bwMode="auto">
          <a:xfrm>
            <a:off x="307941" y="1388361"/>
            <a:ext cx="11775227" cy="448757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indent="0" eaLnBrk="0" fontAlgn="base" hangingPunct="0">
              <a:buNone/>
            </a:pPr>
            <a:r>
              <a:rPr lang="en-US" sz="2400" dirty="0">
                <a:latin typeface="Times New Roman"/>
                <a:ea typeface="+mn-lt"/>
                <a:cs typeface="+mn-lt"/>
              </a:rPr>
              <a:t>Ridge Regression emerged as the top-performing model, achieving a near-perfect R² of 0.92, indicating an excellent fit with minimal error. Lasso Regression also performed highly, but slightly lagged behind Ridge due to a higher Mean MSE. Models like Random Forest and Extra Trees showed strong generalization performance, though with marginally higher errors. Key predictors in the model included Amount Claimed and Amount Adjusted, which strongly influenced the final predictions, driving them toward higher values. Conversely, features such as </a:t>
            </a:r>
            <a:r>
              <a:rPr lang="en-US" sz="2400" dirty="0" err="1">
                <a:latin typeface="Times New Roman"/>
                <a:ea typeface="+mn-lt"/>
                <a:cs typeface="+mn-lt"/>
              </a:rPr>
              <a:t>CoPay</a:t>
            </a:r>
            <a:r>
              <a:rPr lang="en-US" sz="2400" dirty="0">
                <a:latin typeface="Times New Roman"/>
                <a:ea typeface="+mn-lt"/>
                <a:cs typeface="+mn-lt"/>
              </a:rPr>
              <a:t> Amount and Ancillary Claimed Amount had a negative impact on the model’s predictions, pulling the output lower.</a:t>
            </a:r>
            <a:endParaRPr lang="en-US" altLang="en-US" sz="2400" b="1" dirty="0">
              <a:latin typeface="Times New Roman"/>
              <a:ea typeface="+mn-lt"/>
              <a:cs typeface="+mn-lt"/>
            </a:endParaRPr>
          </a:p>
          <a:p>
            <a:pPr>
              <a:buFont typeface="Arial" panose="02110004020202020204"/>
              <a:buChar char="•"/>
            </a:pPr>
            <a:endParaRPr lang="en-US" sz="2400" dirty="0">
              <a:latin typeface="Times New Roman"/>
              <a:cs typeface="Times New Roman"/>
            </a:endParaRPr>
          </a:p>
          <a:p>
            <a:pPr marL="342900" marR="0" lvl="0" indent="-342900" defTabSz="914400">
              <a:spcBef>
                <a:spcPct val="0"/>
              </a:spcBef>
              <a:spcAft>
                <a:spcPts val="600"/>
              </a:spcAft>
              <a:buClrTx/>
              <a:buSzTx/>
              <a:buAutoNum type="arabicPeriod"/>
              <a:tabLst/>
            </a:pPr>
            <a:endParaRPr lang="en-US" altLang="en-US" sz="2400" b="1" i="0" u="none" strike="noStrike" cap="none" normalizeH="0" baseline="0" dirty="0">
              <a:ln>
                <a:noFill/>
              </a:ln>
              <a:effectLst/>
              <a:latin typeface="Times New Roman"/>
              <a:cs typeface="Arial"/>
            </a:endParaRPr>
          </a:p>
        </p:txBody>
      </p:sp>
      <p:sp>
        <p:nvSpPr>
          <p:cNvPr id="4" name="Slide Number Placeholder 3">
            <a:extLst>
              <a:ext uri="{FF2B5EF4-FFF2-40B4-BE49-F238E27FC236}">
                <a16:creationId xmlns:a16="http://schemas.microsoft.com/office/drawing/2014/main" id="{74A19729-58B9-5AE6-97A0-C2EA58125EA8}"/>
              </a:ext>
            </a:extLst>
          </p:cNvPr>
          <p:cNvSpPr>
            <a:spLocks noGrp="1"/>
          </p:cNvSpPr>
          <p:nvPr>
            <p:ph type="sldNum" sz="quarter" idx="12"/>
          </p:nvPr>
        </p:nvSpPr>
        <p:spPr/>
        <p:txBody>
          <a:bodyPr>
            <a:normAutofit/>
          </a:bodyPr>
          <a:lstStyle/>
          <a:p>
            <a:pPr>
              <a:spcAft>
                <a:spcPts val="600"/>
              </a:spcAft>
            </a:pPr>
            <a:fld id="{71766878-3199-4EAB-94E7-2D6D11070E14}" type="slidenum">
              <a:rPr lang="en-US" smtClean="0"/>
              <a:pPr>
                <a:spcAft>
                  <a:spcPts val="600"/>
                </a:spcAft>
              </a:pPr>
              <a:t>16</a:t>
            </a:fld>
            <a:endParaRPr lang="en-US"/>
          </a:p>
        </p:txBody>
      </p:sp>
      <p:sp>
        <p:nvSpPr>
          <p:cNvPr id="2" name="TextBox 1">
            <a:extLst>
              <a:ext uri="{FF2B5EF4-FFF2-40B4-BE49-F238E27FC236}">
                <a16:creationId xmlns:a16="http://schemas.microsoft.com/office/drawing/2014/main" id="{380701EC-1E87-3FB6-8253-982C4CD5A5BB}"/>
              </a:ext>
            </a:extLst>
          </p:cNvPr>
          <p:cNvSpPr txBox="1"/>
          <p:nvPr/>
        </p:nvSpPr>
        <p:spPr>
          <a:xfrm>
            <a:off x="301930" y="713348"/>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solidFill>
                  <a:srgbClr val="C00000"/>
                </a:solidFill>
                <a:latin typeface="Times New Roman"/>
                <a:cs typeface="Times New Roman"/>
              </a:rPr>
              <a:t>CONCLUSION</a:t>
            </a:r>
          </a:p>
        </p:txBody>
      </p:sp>
    </p:spTree>
    <p:extLst>
      <p:ext uri="{BB962C8B-B14F-4D97-AF65-F5344CB8AC3E}">
        <p14:creationId xmlns:p14="http://schemas.microsoft.com/office/powerpoint/2010/main" val="1638926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8E1554-3867-C2C5-BF8A-70C4B3A7BFB6}"/>
              </a:ext>
            </a:extLst>
          </p:cNvPr>
          <p:cNvSpPr>
            <a:spLocks noGrp="1"/>
          </p:cNvSpPr>
          <p:nvPr>
            <p:ph type="title"/>
          </p:nvPr>
        </p:nvSpPr>
        <p:spPr>
          <a:xfrm>
            <a:off x="686834" y="1153572"/>
            <a:ext cx="3200400" cy="4461163"/>
          </a:xfrm>
        </p:spPr>
        <p:txBody>
          <a:bodyPr>
            <a:normAutofit/>
          </a:bodyPr>
          <a:lstStyle/>
          <a:p>
            <a:r>
              <a:rPr lang="en-IN">
                <a:solidFill>
                  <a:srgbClr val="FFFFFF"/>
                </a:solidFill>
              </a:rPr>
              <a:t>Future Works</a:t>
            </a:r>
          </a:p>
        </p:txBody>
      </p:sp>
      <p:sp>
        <p:nvSpPr>
          <p:cNvPr id="5" name="Rectangle 1">
            <a:extLst>
              <a:ext uri="{FF2B5EF4-FFF2-40B4-BE49-F238E27FC236}">
                <a16:creationId xmlns:a16="http://schemas.microsoft.com/office/drawing/2014/main" id="{1D448B86-FFE0-5D62-C994-3CB2AA7DF9DC}"/>
              </a:ext>
            </a:extLst>
          </p:cNvPr>
          <p:cNvSpPr>
            <a:spLocks noGrp="1" noChangeArrowheads="1"/>
          </p:cNvSpPr>
          <p:nvPr>
            <p:ph idx="1"/>
          </p:nvPr>
        </p:nvSpPr>
        <p:spPr bwMode="auto">
          <a:xfrm>
            <a:off x="18981" y="943578"/>
            <a:ext cx="11551061" cy="523338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a:buNone/>
            </a:pPr>
            <a:r>
              <a:rPr lang="en-US" sz="2000">
                <a:latin typeface="Times New Roman"/>
                <a:ea typeface="+mn-lt"/>
                <a:cs typeface="+mn-lt"/>
              </a:rPr>
              <a:t>   </a:t>
            </a:r>
            <a:r>
              <a:rPr lang="en-US" sz="2400">
                <a:latin typeface="Times New Roman"/>
                <a:ea typeface="+mn-lt"/>
                <a:cs typeface="+mn-lt"/>
              </a:rPr>
              <a:t>It could focus on refining feature selection and engineering techniques to improve model performance, particularly for variables like </a:t>
            </a:r>
            <a:r>
              <a:rPr lang="en-US" sz="2400" err="1">
                <a:latin typeface="Times New Roman"/>
                <a:ea typeface="+mn-lt"/>
                <a:cs typeface="+mn-lt"/>
              </a:rPr>
              <a:t>CoPay</a:t>
            </a:r>
            <a:r>
              <a:rPr lang="en-US" sz="2400">
                <a:latin typeface="Times New Roman"/>
                <a:ea typeface="+mn-lt"/>
                <a:cs typeface="+mn-lt"/>
              </a:rPr>
              <a:t> Amount and Ancillary Claimed Amount, which showed negative impacts. By applying advanced methods such as automated feature selection or leveraging domain-specific insights, the prediction accuracy can be further enhanced</a:t>
            </a:r>
            <a:r>
              <a:rPr kumimoji="0" lang="en-US" sz="2400" b="0" i="0" u="none" strike="noStrike" cap="none" normalizeH="0" baseline="0">
                <a:ln>
                  <a:noFill/>
                </a:ln>
                <a:effectLst/>
                <a:latin typeface="Times New Roman"/>
                <a:ea typeface="+mn-lt"/>
                <a:cs typeface="+mn-lt"/>
              </a:rPr>
              <a:t>.</a:t>
            </a:r>
            <a:r>
              <a:rPr lang="en-US" sz="2400">
                <a:latin typeface="Times New Roman"/>
                <a:ea typeface="+mn-lt"/>
                <a:cs typeface="+mn-lt"/>
              </a:rPr>
              <a:t> Additionally, although Ridge Regression performed excellently, exploring more sophisticated models like deep learning or advanced ensemble methods may improve predictions, especially in handling complex, non-linear relationships in insurance claim data. These efforts could lead to even more precise and reliable outcomes in predicting insurance claims</a:t>
            </a:r>
            <a:r>
              <a:rPr kumimoji="0" lang="en-US" sz="2400" b="0" i="0" u="none" strike="noStrike" cap="none" normalizeH="0" baseline="0">
                <a:ln>
                  <a:noFill/>
                </a:ln>
                <a:effectLst/>
                <a:latin typeface="Times New Roman"/>
                <a:ea typeface="+mn-lt"/>
                <a:cs typeface="+mn-lt"/>
              </a:rPr>
              <a:t>.</a:t>
            </a:r>
            <a:endParaRPr lang="en-US" sz="2400">
              <a:latin typeface="Times New Roman"/>
              <a:ea typeface="+mn-lt"/>
              <a:cs typeface="+mn-lt"/>
            </a:endParaRPr>
          </a:p>
          <a:p>
            <a:pPr marL="0" indent="0">
              <a:buNone/>
            </a:pPr>
            <a:endParaRPr lang="en-US" sz="2400" b="0" i="0" u="none" strike="noStrike" cap="none" normalizeH="0" baseline="0">
              <a:ln>
                <a:noFill/>
              </a:ln>
              <a:effectLst/>
              <a:latin typeface="Times New Roman"/>
              <a:ea typeface="+mn-lt"/>
              <a:cs typeface="+mn-lt"/>
            </a:endParaRPr>
          </a:p>
          <a:p>
            <a:pPr marL="0" indent="0">
              <a:buNone/>
            </a:pPr>
            <a:endParaRPr lang="en-US" sz="2400">
              <a:ea typeface="+mn-lt"/>
              <a:cs typeface="+mn-lt"/>
            </a:endParaRPr>
          </a:p>
        </p:txBody>
      </p:sp>
      <p:sp>
        <p:nvSpPr>
          <p:cNvPr id="4" name="Slide Number Placeholder 3">
            <a:extLst>
              <a:ext uri="{FF2B5EF4-FFF2-40B4-BE49-F238E27FC236}">
                <a16:creationId xmlns:a16="http://schemas.microsoft.com/office/drawing/2014/main" id="{47DA1887-758D-F7D6-B96E-DA9BFC3B44CE}"/>
              </a:ext>
            </a:extLst>
          </p:cNvPr>
          <p:cNvSpPr>
            <a:spLocks noGrp="1"/>
          </p:cNvSpPr>
          <p:nvPr>
            <p:ph type="sldNum" sz="quarter" idx="12"/>
          </p:nvPr>
        </p:nvSpPr>
        <p:spPr>
          <a:xfrm>
            <a:off x="9541564" y="6356350"/>
            <a:ext cx="1812235" cy="365125"/>
          </a:xfrm>
        </p:spPr>
        <p:txBody>
          <a:bodyPr>
            <a:normAutofit/>
          </a:bodyPr>
          <a:lstStyle/>
          <a:p>
            <a:pPr>
              <a:spcAft>
                <a:spcPts val="600"/>
              </a:spcAft>
            </a:pPr>
            <a:fld id="{71766878-3199-4EAB-94E7-2D6D11070E14}" type="slidenum">
              <a:rPr lang="en-US" smtClean="0"/>
              <a:pPr>
                <a:spcAft>
                  <a:spcPts val="600"/>
                </a:spcAft>
              </a:pPr>
              <a:t>17</a:t>
            </a:fld>
            <a:endParaRPr lang="en-US"/>
          </a:p>
        </p:txBody>
      </p:sp>
      <p:sp>
        <p:nvSpPr>
          <p:cNvPr id="2" name="TextBox 1">
            <a:extLst>
              <a:ext uri="{FF2B5EF4-FFF2-40B4-BE49-F238E27FC236}">
                <a16:creationId xmlns:a16="http://schemas.microsoft.com/office/drawing/2014/main" id="{0A207EA4-4862-6472-6879-836B73B01A20}"/>
              </a:ext>
            </a:extLst>
          </p:cNvPr>
          <p:cNvSpPr txBox="1"/>
          <p:nvPr/>
        </p:nvSpPr>
        <p:spPr>
          <a:xfrm>
            <a:off x="453046" y="631758"/>
            <a:ext cx="365034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rgbClr val="C00000"/>
                </a:solidFill>
                <a:latin typeface="Times New Roman"/>
                <a:cs typeface="Times New Roman"/>
              </a:rPr>
              <a:t>FUTURE WORKS</a:t>
            </a:r>
          </a:p>
        </p:txBody>
      </p:sp>
    </p:spTree>
    <p:extLst>
      <p:ext uri="{BB962C8B-B14F-4D97-AF65-F5344CB8AC3E}">
        <p14:creationId xmlns:p14="http://schemas.microsoft.com/office/powerpoint/2010/main" val="1912977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D9A12F-C069-75C3-A594-499273085580}"/>
              </a:ext>
            </a:extLst>
          </p:cNvPr>
          <p:cNvSpPr>
            <a:spLocks noGrp="1"/>
          </p:cNvSpPr>
          <p:nvPr>
            <p:ph type="title"/>
          </p:nvPr>
        </p:nvSpPr>
        <p:spPr>
          <a:xfrm>
            <a:off x="466722" y="586855"/>
            <a:ext cx="4701175" cy="859593"/>
          </a:xfrm>
        </p:spPr>
        <p:txBody>
          <a:bodyPr anchor="b">
            <a:normAutofit/>
          </a:bodyPr>
          <a:lstStyle/>
          <a:p>
            <a:pPr algn="r"/>
            <a:r>
              <a:rPr lang="en-IN" sz="4000" err="1">
                <a:solidFill>
                  <a:srgbClr val="FFFFFF"/>
                </a:solidFill>
              </a:rPr>
              <a:t>Refernces</a:t>
            </a:r>
          </a:p>
        </p:txBody>
      </p:sp>
      <p:sp>
        <p:nvSpPr>
          <p:cNvPr id="6" name="Content Placeholder 5">
            <a:extLst>
              <a:ext uri="{FF2B5EF4-FFF2-40B4-BE49-F238E27FC236}">
                <a16:creationId xmlns:a16="http://schemas.microsoft.com/office/drawing/2014/main" id="{982F51EF-04B9-6027-5126-A55E3941CF2F}"/>
              </a:ext>
            </a:extLst>
          </p:cNvPr>
          <p:cNvSpPr>
            <a:spLocks noGrp="1"/>
          </p:cNvSpPr>
          <p:nvPr>
            <p:ph idx="1"/>
          </p:nvPr>
        </p:nvSpPr>
        <p:spPr>
          <a:xfrm>
            <a:off x="106602" y="1019329"/>
            <a:ext cx="12090268" cy="6317143"/>
          </a:xfrm>
        </p:spPr>
        <p:txBody>
          <a:bodyPr vert="horz" lIns="91440" tIns="45720" rIns="91440" bIns="45720" rtlCol="0" anchor="t">
            <a:noAutofit/>
          </a:bodyPr>
          <a:lstStyle/>
          <a:p>
            <a:pPr>
              <a:buNone/>
            </a:pPr>
            <a:r>
              <a:rPr lang="en-US" sz="1500">
                <a:latin typeface="Times New Roman"/>
                <a:ea typeface="+mn-lt"/>
                <a:cs typeface="+mn-lt"/>
              </a:rPr>
              <a:t>[1] Seely, S., 2018. Eight Use Cases for Machine Learning in Insurance. Azure. Available online: </a:t>
            </a:r>
            <a:r>
              <a:rPr lang="en-US" sz="1500">
                <a:latin typeface="Times New Roman"/>
                <a:ea typeface="+mn-lt"/>
                <a:cs typeface="+mn-lt"/>
                <a:hlinkClick r:id="rId2"/>
              </a:rPr>
              <a:t>https://azure</a:t>
            </a:r>
            <a:r>
              <a:rPr lang="en-US" sz="1500">
                <a:latin typeface="Times New Roman"/>
                <a:ea typeface="+mn-lt"/>
                <a:cs typeface="+mn-lt"/>
              </a:rPr>
              <a:t>. </a:t>
            </a:r>
            <a:r>
              <a:rPr lang="en-US" sz="1500" err="1">
                <a:latin typeface="Times New Roman"/>
                <a:ea typeface="+mn-lt"/>
                <a:cs typeface="+mn-lt"/>
              </a:rPr>
              <a:t>microsoft</a:t>
            </a:r>
            <a:r>
              <a:rPr lang="en-US" sz="1500">
                <a:latin typeface="Times New Roman"/>
                <a:ea typeface="+mn-lt"/>
                <a:cs typeface="+mn-lt"/>
              </a:rPr>
              <a:t>. com/</a:t>
            </a:r>
            <a:r>
              <a:rPr lang="en-US" sz="1500" err="1">
                <a:latin typeface="Times New Roman"/>
                <a:ea typeface="+mn-lt"/>
                <a:cs typeface="+mn-lt"/>
              </a:rPr>
              <a:t>en</a:t>
            </a:r>
            <a:r>
              <a:rPr lang="en-US" sz="1500">
                <a:latin typeface="Times New Roman"/>
                <a:ea typeface="+mn-lt"/>
                <a:cs typeface="+mn-lt"/>
              </a:rPr>
              <a:t>-us/blog/eight-use-cases-for-machine-learning-in-insurance/(accessed on 28 December 2022).</a:t>
            </a:r>
          </a:p>
          <a:p>
            <a:pPr>
              <a:buNone/>
            </a:pPr>
            <a:r>
              <a:rPr lang="en-US" sz="1500">
                <a:latin typeface="Times New Roman"/>
                <a:ea typeface="+mn-lt"/>
                <a:cs typeface="+mn-lt"/>
              </a:rPr>
              <a:t>[2] N. J. Ravindran and P. Gopalakrishnan, ”Predictive Analysis for Healthcare Sector Using Big data Technology,” 2018 Second International Conference on Green Computing and Internet of Things (</a:t>
            </a:r>
            <a:r>
              <a:rPr lang="en-US" sz="1500" err="1">
                <a:latin typeface="Times New Roman"/>
                <a:ea typeface="+mn-lt"/>
                <a:cs typeface="+mn-lt"/>
              </a:rPr>
              <a:t>ICGCIoT</a:t>
            </a:r>
            <a:r>
              <a:rPr lang="en-US" sz="1500">
                <a:latin typeface="Times New Roman"/>
                <a:ea typeface="+mn-lt"/>
                <a:cs typeface="+mn-lt"/>
              </a:rPr>
              <a:t>), Bangalore, India, 2018, pp. 326-331, </a:t>
            </a:r>
            <a:r>
              <a:rPr lang="en-US" sz="1500" err="1">
                <a:latin typeface="Times New Roman"/>
                <a:ea typeface="+mn-lt"/>
                <a:cs typeface="+mn-lt"/>
              </a:rPr>
              <a:t>doi</a:t>
            </a:r>
            <a:r>
              <a:rPr lang="en-US" sz="1500">
                <a:latin typeface="Times New Roman"/>
                <a:ea typeface="+mn-lt"/>
                <a:cs typeface="+mn-lt"/>
              </a:rPr>
              <a:t>: 10.1109/ICGCIoT.2018.8753090.</a:t>
            </a:r>
          </a:p>
          <a:p>
            <a:pPr>
              <a:buNone/>
            </a:pPr>
            <a:r>
              <a:rPr lang="en-US" sz="1500">
                <a:latin typeface="Times New Roman"/>
                <a:ea typeface="+mn-lt"/>
                <a:cs typeface="+mn-lt"/>
              </a:rPr>
              <a:t>[3] Sankar, K.H. and Shyam, A.V., Customer Ethics In Health Insurance Claims: A Study Using Genetic Algorithm.</a:t>
            </a:r>
          </a:p>
          <a:p>
            <a:pPr>
              <a:buNone/>
            </a:pPr>
            <a:r>
              <a:rPr lang="en-US" sz="1500">
                <a:latin typeface="Times New Roman"/>
                <a:ea typeface="+mn-lt"/>
                <a:cs typeface="+mn-lt"/>
              </a:rPr>
              <a:t>[4] Aswath, G.I., Vasudevan, S.K. and Sampath, N., 2020. A frugal and innovative telemedicine approach for rural India–automated doctor machine. International Journal of Medical Engineering and Informatics, 12(3), pp.278-290.</a:t>
            </a:r>
          </a:p>
          <a:p>
            <a:pPr>
              <a:buNone/>
            </a:pPr>
            <a:r>
              <a:rPr lang="en-US" sz="1500">
                <a:latin typeface="Times New Roman"/>
                <a:ea typeface="+mn-lt"/>
                <a:cs typeface="+mn-lt"/>
              </a:rPr>
              <a:t>[5] Orji, U. and </a:t>
            </a:r>
            <a:r>
              <a:rPr lang="en-US" sz="1500" err="1">
                <a:latin typeface="Times New Roman"/>
                <a:ea typeface="+mn-lt"/>
                <a:cs typeface="+mn-lt"/>
              </a:rPr>
              <a:t>Ukwandu</a:t>
            </a:r>
            <a:r>
              <a:rPr lang="en-US" sz="1500">
                <a:latin typeface="Times New Roman"/>
                <a:ea typeface="+mn-lt"/>
                <a:cs typeface="+mn-lt"/>
              </a:rPr>
              <a:t>, E., 2024. Machine learning for an explainable cost prediction of medical insurance. Machine Learning with Applications, 15, p.100516.</a:t>
            </a:r>
          </a:p>
          <a:p>
            <a:pPr>
              <a:buNone/>
            </a:pPr>
            <a:r>
              <a:rPr lang="en-US" sz="1500">
                <a:latin typeface="Times New Roman"/>
                <a:ea typeface="+mn-lt"/>
                <a:cs typeface="+mn-lt"/>
              </a:rPr>
              <a:t>[6] Kaushik, K., Bhardwaj, A., Dwivedi, A.D. and Singh, R., 2022. Machine learning-based regression framework to predict health insurance premiums. International journal of environmental research and public health, 19(13), p.7898.</a:t>
            </a:r>
          </a:p>
          <a:p>
            <a:pPr>
              <a:buNone/>
            </a:pPr>
            <a:r>
              <a:rPr lang="en-US" sz="1500">
                <a:latin typeface="Times New Roman"/>
                <a:ea typeface="+mn-lt"/>
                <a:cs typeface="+mn-lt"/>
              </a:rPr>
              <a:t>[7] </a:t>
            </a:r>
            <a:r>
              <a:rPr lang="en-US" sz="1500" err="1">
                <a:latin typeface="Times New Roman"/>
                <a:ea typeface="+mn-lt"/>
                <a:cs typeface="+mn-lt"/>
              </a:rPr>
              <a:t>Ogugua</a:t>
            </a:r>
            <a:r>
              <a:rPr lang="en-US" sz="1500">
                <a:latin typeface="Times New Roman"/>
                <a:ea typeface="+mn-lt"/>
                <a:cs typeface="+mn-lt"/>
              </a:rPr>
              <a:t>, J.O., Onwumere, C., </a:t>
            </a:r>
            <a:r>
              <a:rPr lang="en-US" sz="1500" err="1">
                <a:latin typeface="Times New Roman"/>
                <a:ea typeface="+mn-lt"/>
                <a:cs typeface="+mn-lt"/>
              </a:rPr>
              <a:t>Arowoogun</a:t>
            </a:r>
            <a:r>
              <a:rPr lang="en-US" sz="1500">
                <a:latin typeface="Times New Roman"/>
                <a:ea typeface="+mn-lt"/>
                <a:cs typeface="+mn-lt"/>
              </a:rPr>
              <a:t>, J.O., Anyanwu, E.C., </a:t>
            </a:r>
            <a:r>
              <a:rPr lang="en-US" sz="1500" err="1">
                <a:latin typeface="Times New Roman"/>
                <a:ea typeface="+mn-lt"/>
                <a:cs typeface="+mn-lt"/>
              </a:rPr>
              <a:t>Odilibe</a:t>
            </a:r>
            <a:r>
              <a:rPr lang="en-US" sz="1500">
                <a:latin typeface="Times New Roman"/>
                <a:ea typeface="+mn-lt"/>
                <a:cs typeface="+mn-lt"/>
              </a:rPr>
              <a:t>, I.P. and Akomolafe, O., 2024. Data science in public health: A review of predictive analytics for disease control in the USA and Africa. World Journal of Advanced Research and Reviews, 21(1), pp.2753-2769.</a:t>
            </a:r>
          </a:p>
          <a:p>
            <a:pPr>
              <a:buNone/>
            </a:pPr>
            <a:r>
              <a:rPr lang="en-US" sz="1500">
                <a:latin typeface="Times New Roman"/>
                <a:ea typeface="+mn-lt"/>
                <a:cs typeface="+mn-lt"/>
              </a:rPr>
              <a:t>[8] Kandula, A.R., </a:t>
            </a:r>
            <a:r>
              <a:rPr lang="en-US" sz="1500" err="1">
                <a:latin typeface="Times New Roman"/>
                <a:ea typeface="+mn-lt"/>
                <a:cs typeface="+mn-lt"/>
              </a:rPr>
              <a:t>Kalyanapu</a:t>
            </a:r>
            <a:r>
              <a:rPr lang="en-US" sz="1500">
                <a:latin typeface="Times New Roman"/>
                <a:ea typeface="+mn-lt"/>
                <a:cs typeface="+mn-lt"/>
              </a:rPr>
              <a:t>, S., </a:t>
            </a:r>
            <a:r>
              <a:rPr lang="en-US" sz="1500" err="1">
                <a:latin typeface="Times New Roman"/>
                <a:ea typeface="+mn-lt"/>
                <a:cs typeface="+mn-lt"/>
              </a:rPr>
              <a:t>Rayapalli</a:t>
            </a:r>
            <a:r>
              <a:rPr lang="en-US" sz="1500">
                <a:latin typeface="Times New Roman"/>
                <a:ea typeface="+mn-lt"/>
                <a:cs typeface="+mn-lt"/>
              </a:rPr>
              <a:t>, S.N., </a:t>
            </a:r>
            <a:r>
              <a:rPr lang="en-US" sz="1500" err="1">
                <a:latin typeface="Times New Roman"/>
                <a:ea typeface="+mn-lt"/>
                <a:cs typeface="+mn-lt"/>
              </a:rPr>
              <a:t>Veerabathina</a:t>
            </a:r>
            <a:r>
              <a:rPr lang="en-US" sz="1500">
                <a:latin typeface="Times New Roman"/>
                <a:ea typeface="+mn-lt"/>
                <a:cs typeface="+mn-lt"/>
              </a:rPr>
              <a:t>, K.R.,</a:t>
            </a:r>
            <a:r>
              <a:rPr lang="en-US" sz="1500" err="1">
                <a:latin typeface="Times New Roman"/>
                <a:ea typeface="+mn-lt"/>
                <a:cs typeface="+mn-lt"/>
              </a:rPr>
              <a:t>Modugumudi</a:t>
            </a:r>
            <a:r>
              <a:rPr lang="en-US" sz="1500">
                <a:latin typeface="Times New Roman"/>
                <a:ea typeface="+mn-lt"/>
                <a:cs typeface="+mn-lt"/>
              </a:rPr>
              <a:t>, V. and </a:t>
            </a:r>
            <a:r>
              <a:rPr lang="en-US" sz="1500" err="1">
                <a:latin typeface="Times New Roman"/>
                <a:ea typeface="+mn-lt"/>
                <a:cs typeface="+mn-lt"/>
              </a:rPr>
              <a:t>Kanikella</a:t>
            </a:r>
            <a:r>
              <a:rPr lang="en-US" sz="1500">
                <a:latin typeface="Times New Roman"/>
                <a:ea typeface="+mn-lt"/>
                <a:cs typeface="+mn-lt"/>
              </a:rPr>
              <a:t>, S.R., 2024, March. Medical Insurance Predictive Modelling: An Analysis of Machine Learning Methods. In</a:t>
            </a:r>
            <a:endParaRPr lang="en-US" sz="1500">
              <a:latin typeface="Times New Roman"/>
              <a:cs typeface="Times New Roman"/>
            </a:endParaRPr>
          </a:p>
          <a:p>
            <a:pPr>
              <a:buNone/>
            </a:pPr>
            <a:r>
              <a:rPr lang="en-US" sz="1500">
                <a:latin typeface="Times New Roman"/>
                <a:ea typeface="+mn-lt"/>
                <a:cs typeface="+mn-lt"/>
              </a:rPr>
              <a:t>2024 IEEE International Conference on Interdisciplinary Approaches in Technology and Management for Social Innovation (IATMSI) (Vol. 2,pp. 1-5). IEEE.</a:t>
            </a:r>
          </a:p>
          <a:p>
            <a:pPr>
              <a:buNone/>
            </a:pPr>
            <a:r>
              <a:rPr lang="en-US" sz="1500">
                <a:latin typeface="Times New Roman"/>
                <a:ea typeface="+mn-lt"/>
                <a:cs typeface="+mn-lt"/>
              </a:rPr>
              <a:t>[9] </a:t>
            </a:r>
            <a:r>
              <a:rPr lang="en-US" sz="1500" err="1">
                <a:latin typeface="Times New Roman"/>
                <a:ea typeface="+mn-lt"/>
                <a:cs typeface="+mn-lt"/>
              </a:rPr>
              <a:t>Arowoogun</a:t>
            </a:r>
            <a:r>
              <a:rPr lang="en-US" sz="1500">
                <a:latin typeface="Times New Roman"/>
                <a:ea typeface="+mn-lt"/>
                <a:cs typeface="+mn-lt"/>
              </a:rPr>
              <a:t>, J.O., </a:t>
            </a:r>
            <a:r>
              <a:rPr lang="en-US" sz="1500" err="1">
                <a:latin typeface="Times New Roman"/>
                <a:ea typeface="+mn-lt"/>
                <a:cs typeface="+mn-lt"/>
              </a:rPr>
              <a:t>Babawarun</a:t>
            </a:r>
            <a:r>
              <a:rPr lang="en-US" sz="1500">
                <a:latin typeface="Times New Roman"/>
                <a:ea typeface="+mn-lt"/>
                <a:cs typeface="+mn-lt"/>
              </a:rPr>
              <a:t>, O., Chidi, R., Adeniyi, A.O. and </a:t>
            </a:r>
            <a:r>
              <a:rPr lang="en-US" sz="1500" err="1">
                <a:latin typeface="Times New Roman"/>
                <a:ea typeface="+mn-lt"/>
                <a:cs typeface="+mn-lt"/>
              </a:rPr>
              <a:t>Okolo,C.A</a:t>
            </a:r>
            <a:r>
              <a:rPr lang="en-US" sz="1500">
                <a:latin typeface="Times New Roman"/>
                <a:ea typeface="+mn-lt"/>
                <a:cs typeface="+mn-lt"/>
              </a:rPr>
              <a:t>., 2024. A comprehensive review of data analytics in healthcare management: Leveraging big data for decision-making. World Journal of Advanced Research and Reviews, 21(2), pp.1810-1821.</a:t>
            </a:r>
          </a:p>
          <a:p>
            <a:pPr>
              <a:buNone/>
            </a:pPr>
            <a:r>
              <a:rPr lang="en-US" sz="1500">
                <a:latin typeface="Times New Roman"/>
                <a:ea typeface="+mn-lt"/>
                <a:cs typeface="+mn-lt"/>
              </a:rPr>
              <a:t>[10] Ibeh, C.V., </a:t>
            </a:r>
            <a:r>
              <a:rPr lang="en-US" sz="1500" err="1">
                <a:latin typeface="Times New Roman"/>
                <a:ea typeface="+mn-lt"/>
                <a:cs typeface="+mn-lt"/>
              </a:rPr>
              <a:t>Elufioye</a:t>
            </a:r>
            <a:r>
              <a:rPr lang="en-US" sz="1500">
                <a:latin typeface="Times New Roman"/>
                <a:ea typeface="+mn-lt"/>
                <a:cs typeface="+mn-lt"/>
              </a:rPr>
              <a:t>, O.A., </a:t>
            </a:r>
            <a:r>
              <a:rPr lang="en-US" sz="1500" err="1">
                <a:latin typeface="Times New Roman"/>
                <a:ea typeface="+mn-lt"/>
                <a:cs typeface="+mn-lt"/>
              </a:rPr>
              <a:t>Olorunsogo</a:t>
            </a:r>
            <a:r>
              <a:rPr lang="en-US" sz="1500">
                <a:latin typeface="Times New Roman"/>
                <a:ea typeface="+mn-lt"/>
                <a:cs typeface="+mn-lt"/>
              </a:rPr>
              <a:t>, T., </a:t>
            </a:r>
            <a:r>
              <a:rPr lang="en-US" sz="1500" err="1">
                <a:latin typeface="Times New Roman"/>
                <a:ea typeface="+mn-lt"/>
                <a:cs typeface="+mn-lt"/>
              </a:rPr>
              <a:t>Asuzu</a:t>
            </a:r>
            <a:r>
              <a:rPr lang="en-US" sz="1500">
                <a:latin typeface="Times New Roman"/>
                <a:ea typeface="+mn-lt"/>
                <a:cs typeface="+mn-lt"/>
              </a:rPr>
              <a:t>, O.F., </a:t>
            </a:r>
            <a:r>
              <a:rPr lang="en-US" sz="1500" err="1">
                <a:latin typeface="Times New Roman"/>
                <a:ea typeface="+mn-lt"/>
                <a:cs typeface="+mn-lt"/>
              </a:rPr>
              <a:t>Nduubuisi</a:t>
            </a:r>
            <a:r>
              <a:rPr lang="en-US" sz="1500">
                <a:latin typeface="Times New Roman"/>
                <a:ea typeface="+mn-lt"/>
                <a:cs typeface="+mn-lt"/>
              </a:rPr>
              <a:t>, N.L. and </a:t>
            </a:r>
            <a:r>
              <a:rPr lang="en-US" sz="1500" err="1">
                <a:latin typeface="Times New Roman"/>
                <a:ea typeface="+mn-lt"/>
                <a:cs typeface="+mn-lt"/>
              </a:rPr>
              <a:t>Daraojimba</a:t>
            </a:r>
            <a:r>
              <a:rPr lang="en-US" sz="1500">
                <a:latin typeface="Times New Roman"/>
                <a:ea typeface="+mn-lt"/>
                <a:cs typeface="+mn-lt"/>
              </a:rPr>
              <a:t>, A.I., 2024. Data analytics in healthcare: A review of patient-centric approaches and healthcare delivery. World Journal of Advanced Research and Reviews, 21(2), pp.1750-1760.</a:t>
            </a:r>
          </a:p>
        </p:txBody>
      </p:sp>
      <p:sp>
        <p:nvSpPr>
          <p:cNvPr id="4" name="Slide Number Placeholder 3">
            <a:extLst>
              <a:ext uri="{FF2B5EF4-FFF2-40B4-BE49-F238E27FC236}">
                <a16:creationId xmlns:a16="http://schemas.microsoft.com/office/drawing/2014/main" id="{2E29B43B-3827-D98F-8EFB-EDDB4FF47C21}"/>
              </a:ext>
            </a:extLst>
          </p:cNvPr>
          <p:cNvSpPr>
            <a:spLocks noGrp="1"/>
          </p:cNvSpPr>
          <p:nvPr>
            <p:ph type="sldNum" sz="quarter" idx="12"/>
          </p:nvPr>
        </p:nvSpPr>
        <p:spPr>
          <a:xfrm>
            <a:off x="11704320" y="6455664"/>
            <a:ext cx="448056" cy="365125"/>
          </a:xfrm>
        </p:spPr>
        <p:txBody>
          <a:bodyPr>
            <a:normAutofit/>
          </a:bodyPr>
          <a:lstStyle/>
          <a:p>
            <a:pPr>
              <a:spcAft>
                <a:spcPts val="600"/>
              </a:spcAft>
            </a:pPr>
            <a:fld id="{71766878-3199-4EAB-94E7-2D6D11070E14}" type="slidenum">
              <a:rPr lang="en-US" sz="1100">
                <a:solidFill>
                  <a:schemeClr val="tx1">
                    <a:lumMod val="50000"/>
                    <a:lumOff val="50000"/>
                  </a:schemeClr>
                </a:solidFill>
              </a:rPr>
              <a:pPr>
                <a:spcAft>
                  <a:spcPts val="600"/>
                </a:spcAft>
              </a:pPr>
              <a:t>18</a:t>
            </a:fld>
            <a:endParaRPr lang="en-US" sz="1100">
              <a:solidFill>
                <a:schemeClr val="tx1">
                  <a:lumMod val="50000"/>
                  <a:lumOff val="50000"/>
                </a:schemeClr>
              </a:solidFill>
            </a:endParaRPr>
          </a:p>
        </p:txBody>
      </p:sp>
      <p:sp>
        <p:nvSpPr>
          <p:cNvPr id="2" name="TextBox 1">
            <a:extLst>
              <a:ext uri="{FF2B5EF4-FFF2-40B4-BE49-F238E27FC236}">
                <a16:creationId xmlns:a16="http://schemas.microsoft.com/office/drawing/2014/main" id="{7AE6CD74-35AA-3E0B-7C3E-3412005B55E4}"/>
              </a:ext>
            </a:extLst>
          </p:cNvPr>
          <p:cNvSpPr txBox="1"/>
          <p:nvPr/>
        </p:nvSpPr>
        <p:spPr>
          <a:xfrm>
            <a:off x="298795" y="359600"/>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solidFill>
                  <a:srgbClr val="C00000"/>
                </a:solidFill>
                <a:latin typeface="Times New Roman"/>
                <a:cs typeface="Times New Roman"/>
              </a:rPr>
              <a:t>REFERENCES</a:t>
            </a:r>
          </a:p>
        </p:txBody>
      </p:sp>
    </p:spTree>
    <p:extLst>
      <p:ext uri="{BB962C8B-B14F-4D97-AF65-F5344CB8AC3E}">
        <p14:creationId xmlns:p14="http://schemas.microsoft.com/office/powerpoint/2010/main" val="13821373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ADEA89-3CFC-3EF3-538A-4C5900149E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9188B1-7974-8D02-02F5-09D4A319E5D1}"/>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References</a:t>
            </a:r>
          </a:p>
        </p:txBody>
      </p:sp>
      <p:sp>
        <p:nvSpPr>
          <p:cNvPr id="2" name="Content Placeholder 1">
            <a:extLst>
              <a:ext uri="{FF2B5EF4-FFF2-40B4-BE49-F238E27FC236}">
                <a16:creationId xmlns:a16="http://schemas.microsoft.com/office/drawing/2014/main" id="{79DD6E6E-F7B8-050B-EBA0-0D5371BF4A0F}"/>
              </a:ext>
            </a:extLst>
          </p:cNvPr>
          <p:cNvSpPr>
            <a:spLocks noGrp="1"/>
          </p:cNvSpPr>
          <p:nvPr>
            <p:ph idx="1"/>
          </p:nvPr>
        </p:nvSpPr>
        <p:spPr>
          <a:xfrm>
            <a:off x="187591" y="406759"/>
            <a:ext cx="11746164" cy="6046201"/>
          </a:xfrm>
        </p:spPr>
        <p:txBody>
          <a:bodyPr vert="horz" lIns="91440" tIns="45720" rIns="91440" bIns="45720" rtlCol="0" anchor="ctr">
            <a:noAutofit/>
          </a:bodyPr>
          <a:lstStyle/>
          <a:p>
            <a:pPr>
              <a:buNone/>
            </a:pPr>
            <a:r>
              <a:rPr lang="en-IN" sz="1500">
                <a:latin typeface="Times New Roman"/>
                <a:ea typeface="+mn-lt"/>
                <a:cs typeface="+mn-lt"/>
              </a:rPr>
              <a:t>[11] Padmapriya, S.T. and Parthasarathy, S., 2024. Ethical data collection for medical image analysis: A structured approach. Asian Bioethics Review,16(1), pp.95-108.</a:t>
            </a:r>
          </a:p>
          <a:p>
            <a:pPr>
              <a:buNone/>
            </a:pPr>
            <a:r>
              <a:rPr lang="en-IN" sz="1500">
                <a:latin typeface="Times New Roman"/>
                <a:ea typeface="+mn-lt"/>
                <a:cs typeface="+mn-lt"/>
              </a:rPr>
              <a:t>[12] Hu, Z., Qin, X., Chen, K., Huang, Y.N., Wang, R.S., Tung, T.H., </a:t>
            </a:r>
            <a:r>
              <a:rPr lang="en-IN" sz="1500" err="1">
                <a:latin typeface="Times New Roman"/>
                <a:ea typeface="+mn-lt"/>
                <a:cs typeface="+mn-lt"/>
              </a:rPr>
              <a:t>Chuang,Y.C</a:t>
            </a:r>
            <a:r>
              <a:rPr lang="en-IN" sz="1500">
                <a:latin typeface="Times New Roman"/>
                <a:ea typeface="+mn-lt"/>
                <a:cs typeface="+mn-lt"/>
              </a:rPr>
              <a:t>. and Wang, B.L., 2024. Chinese Health Insurance in the Digital Era: Bibliometric Study. Interactive Journal of Medical Research, 13(1),p.e52020.</a:t>
            </a:r>
          </a:p>
          <a:p>
            <a:pPr>
              <a:buNone/>
            </a:pPr>
            <a:r>
              <a:rPr lang="en-IN" sz="1500">
                <a:latin typeface="Times New Roman"/>
                <a:ea typeface="+mn-lt"/>
                <a:cs typeface="+mn-lt"/>
              </a:rPr>
              <a:t>[13] Ahmed, A., Xi, R., Hou, M., Shah, S.A. and Hameed, S., 2023. Harnessing big data analytics for healthcare: A comprehensive review of frameworks, implications, applications, and impacts. IEEE Access.</a:t>
            </a:r>
          </a:p>
          <a:p>
            <a:pPr>
              <a:buNone/>
            </a:pPr>
            <a:r>
              <a:rPr lang="en-IN" sz="1500">
                <a:latin typeface="Times New Roman"/>
                <a:ea typeface="+mn-lt"/>
                <a:cs typeface="+mn-lt"/>
              </a:rPr>
              <a:t>[14] Singh, R.K., Agrawal, S., Sahu, A. and </a:t>
            </a:r>
            <a:r>
              <a:rPr lang="en-IN" sz="1500" err="1">
                <a:latin typeface="Times New Roman"/>
                <a:ea typeface="+mn-lt"/>
                <a:cs typeface="+mn-lt"/>
              </a:rPr>
              <a:t>Kazancoglu</a:t>
            </a:r>
            <a:r>
              <a:rPr lang="en-IN" sz="1500">
                <a:latin typeface="Times New Roman"/>
                <a:ea typeface="+mn-lt"/>
                <a:cs typeface="+mn-lt"/>
              </a:rPr>
              <a:t>, Y., 2023. Strategic issues of big data analytics applications for managing health-care sector: a systematic literature review and future research agenda. The TQM Journal, 35(1), pp.262-291.</a:t>
            </a:r>
          </a:p>
          <a:p>
            <a:pPr>
              <a:buNone/>
            </a:pPr>
            <a:r>
              <a:rPr lang="en-IN" sz="1500">
                <a:latin typeface="Times New Roman"/>
                <a:ea typeface="+mn-lt"/>
                <a:cs typeface="+mn-lt"/>
              </a:rPr>
              <a:t>[15] Y. Xie et al., ”Predicting Days in Hospital Using Health Insurance Claims,” in IEEE Journal of Biomedical and Health Informatics, vol. 19, no. 4, pp. 1224-1233, July 2015, </a:t>
            </a:r>
            <a:r>
              <a:rPr lang="en-IN" sz="1500" err="1">
                <a:latin typeface="Times New Roman"/>
                <a:ea typeface="+mn-lt"/>
                <a:cs typeface="+mn-lt"/>
              </a:rPr>
              <a:t>doi</a:t>
            </a:r>
            <a:r>
              <a:rPr lang="en-IN" sz="1500">
                <a:latin typeface="Times New Roman"/>
                <a:ea typeface="+mn-lt"/>
                <a:cs typeface="+mn-lt"/>
              </a:rPr>
              <a:t>: 10.1109/JBHI.2015.2402692.</a:t>
            </a:r>
          </a:p>
          <a:p>
            <a:pPr>
              <a:buNone/>
            </a:pPr>
            <a:r>
              <a:rPr lang="en-IN" sz="1500">
                <a:latin typeface="Times New Roman"/>
                <a:ea typeface="+mn-lt"/>
                <a:cs typeface="+mn-lt"/>
              </a:rPr>
              <a:t>[16] H. Yang, ”Is Supplementary Health Insurance an Effective Supplement to Basic Health Insurance in China? a Two-part Model and Quantile Approach,” 2021 International Conference on Public Management and Intelligent Society (PMIS), Shanghai, China, 2021, pp. 308-311, doi:10.1109/PMIS52742.2021.00075.</a:t>
            </a:r>
          </a:p>
          <a:p>
            <a:pPr>
              <a:buNone/>
            </a:pPr>
            <a:r>
              <a:rPr lang="en-IN" sz="1500">
                <a:latin typeface="Times New Roman"/>
                <a:ea typeface="+mn-lt"/>
                <a:cs typeface="+mn-lt"/>
              </a:rPr>
              <a:t>[17] S. Gupta and P. Tripathi, ”An emerging trend of big data analytics with health insurance in India,” 2016 International Conference on Innovation and Challenges in Cyber Security (ICICCS-INBUSH), Greater Noida, India, 2016, pp. 64-69, </a:t>
            </a:r>
            <a:r>
              <a:rPr lang="en-IN" sz="1500" err="1">
                <a:latin typeface="Times New Roman"/>
                <a:ea typeface="+mn-lt"/>
                <a:cs typeface="+mn-lt"/>
              </a:rPr>
              <a:t>doi</a:t>
            </a:r>
            <a:r>
              <a:rPr lang="en-IN" sz="1500">
                <a:latin typeface="Times New Roman"/>
                <a:ea typeface="+mn-lt"/>
                <a:cs typeface="+mn-lt"/>
              </a:rPr>
              <a:t>: 10.1109/ICICCS.2016.7542360.</a:t>
            </a:r>
            <a:endParaRPr lang="en-IN" sz="1500">
              <a:latin typeface="Times New Roman"/>
              <a:cs typeface="Times New Roman"/>
            </a:endParaRPr>
          </a:p>
          <a:p>
            <a:pPr>
              <a:buNone/>
            </a:pPr>
            <a:r>
              <a:rPr lang="en-IN" sz="1500">
                <a:latin typeface="Times New Roman"/>
                <a:ea typeface="+mn-lt"/>
                <a:cs typeface="+mn-lt"/>
              </a:rPr>
              <a:t>[18] A. </a:t>
            </a:r>
            <a:r>
              <a:rPr lang="en-IN" sz="1500" err="1">
                <a:latin typeface="Times New Roman"/>
                <a:ea typeface="+mn-lt"/>
                <a:cs typeface="+mn-lt"/>
              </a:rPr>
              <a:t>Gurbaxani</a:t>
            </a:r>
            <a:r>
              <a:rPr lang="en-IN" sz="1500">
                <a:latin typeface="Times New Roman"/>
                <a:ea typeface="+mn-lt"/>
                <a:cs typeface="+mn-lt"/>
              </a:rPr>
              <a:t> and R. Raman, ”Perception of SMEs in India towards Employee Health Insurance Plan,” 2022 International Conference on Sustainable Islamic Business and Finance (SIBF), Sakhir, Bahrain, 2022, pp. 205-208, </a:t>
            </a:r>
            <a:r>
              <a:rPr lang="en-IN" sz="1500" err="1">
                <a:latin typeface="Times New Roman"/>
                <a:ea typeface="+mn-lt"/>
                <a:cs typeface="+mn-lt"/>
              </a:rPr>
              <a:t>doi</a:t>
            </a:r>
            <a:r>
              <a:rPr lang="en-IN" sz="1500">
                <a:latin typeface="Times New Roman"/>
                <a:ea typeface="+mn-lt"/>
                <a:cs typeface="+mn-lt"/>
              </a:rPr>
              <a:t>: 10.1109/SIBF56821.2022.9939961.</a:t>
            </a:r>
          </a:p>
          <a:p>
            <a:pPr>
              <a:buNone/>
            </a:pPr>
            <a:r>
              <a:rPr lang="en-IN" sz="1500">
                <a:latin typeface="Times New Roman"/>
                <a:ea typeface="+mn-lt"/>
                <a:cs typeface="+mn-lt"/>
              </a:rPr>
              <a:t>[19] A. </a:t>
            </a:r>
            <a:r>
              <a:rPr lang="en-IN" sz="1500" err="1">
                <a:latin typeface="Times New Roman"/>
                <a:ea typeface="+mn-lt"/>
                <a:cs typeface="+mn-lt"/>
              </a:rPr>
              <a:t>Ivanovi´c</a:t>
            </a:r>
            <a:r>
              <a:rPr lang="en-IN" sz="1500">
                <a:latin typeface="Times New Roman"/>
                <a:ea typeface="+mn-lt"/>
                <a:cs typeface="+mn-lt"/>
              </a:rPr>
              <a:t> and P. </a:t>
            </a:r>
            <a:r>
              <a:rPr lang="en-IN" sz="1500" err="1">
                <a:latin typeface="Times New Roman"/>
                <a:ea typeface="+mn-lt"/>
                <a:cs typeface="+mn-lt"/>
              </a:rPr>
              <a:t>Rakovi´c</a:t>
            </a:r>
            <a:r>
              <a:rPr lang="en-IN" sz="1500">
                <a:latin typeface="Times New Roman"/>
                <a:ea typeface="+mn-lt"/>
                <a:cs typeface="+mn-lt"/>
              </a:rPr>
              <a:t>, ”E-health Card Information System: Case Study Health Insurance Fund of Montenegro,” 2019 8th Mediterranean Conference on Embedded Computing (MECO), Budva, Montenegro, 2019, pp. 1-5, </a:t>
            </a:r>
            <a:r>
              <a:rPr lang="en-IN" sz="1500" err="1">
                <a:latin typeface="Times New Roman"/>
                <a:ea typeface="+mn-lt"/>
                <a:cs typeface="+mn-lt"/>
              </a:rPr>
              <a:t>doi</a:t>
            </a:r>
            <a:r>
              <a:rPr lang="en-IN" sz="1500">
                <a:latin typeface="Times New Roman"/>
                <a:ea typeface="+mn-lt"/>
                <a:cs typeface="+mn-lt"/>
              </a:rPr>
              <a:t>: 10.1109/MECO.2019.8760284.</a:t>
            </a:r>
          </a:p>
          <a:p>
            <a:pPr>
              <a:buNone/>
            </a:pPr>
            <a:r>
              <a:rPr lang="en-IN" sz="1500">
                <a:latin typeface="Times New Roman"/>
                <a:ea typeface="+mn-lt"/>
                <a:cs typeface="+mn-lt"/>
              </a:rPr>
              <a:t>[20] Kareem, S., Ahmad, R.B. and </a:t>
            </a:r>
            <a:r>
              <a:rPr lang="en-IN" sz="1500" err="1">
                <a:latin typeface="Times New Roman"/>
                <a:ea typeface="+mn-lt"/>
                <a:cs typeface="+mn-lt"/>
              </a:rPr>
              <a:t>Sarlan</a:t>
            </a:r>
            <a:r>
              <a:rPr lang="en-IN" sz="1500">
                <a:latin typeface="Times New Roman"/>
                <a:ea typeface="+mn-lt"/>
                <a:cs typeface="+mn-lt"/>
              </a:rPr>
              <a:t>, A.B., 2017, November. Framework for the identification of fraudulent health insurance claims using association rule mining. In 2017 IEEE Conference on Big Data and Analytics (ICBDA) (pp. 99-104). IEEE.</a:t>
            </a:r>
            <a:endParaRPr lang="en-US" sz="1500">
              <a:latin typeface="Times New Roman"/>
              <a:ea typeface="+mn-lt"/>
              <a:cs typeface="+mn-lt"/>
            </a:endParaRPr>
          </a:p>
          <a:p>
            <a:pPr marL="0" indent="0">
              <a:buNone/>
            </a:pPr>
            <a:r>
              <a:rPr lang="en-IN" sz="1500">
                <a:latin typeface="Times New Roman"/>
                <a:ea typeface="+mn-lt"/>
                <a:cs typeface="+mn-lt"/>
              </a:rPr>
              <a:t>[21] M. R. Islam et al., ”</a:t>
            </a:r>
            <a:r>
              <a:rPr lang="en-IN" sz="1500" err="1">
                <a:latin typeface="Times New Roman"/>
                <a:ea typeface="+mn-lt"/>
                <a:cs typeface="+mn-lt"/>
              </a:rPr>
              <a:t>MHIVis</a:t>
            </a:r>
            <a:r>
              <a:rPr lang="en-IN" sz="1500">
                <a:latin typeface="Times New Roman"/>
                <a:ea typeface="+mn-lt"/>
                <a:cs typeface="+mn-lt"/>
              </a:rPr>
              <a:t>: Visual Analytics for Exploring Mental Illness of Policyholders in Life Insurance Industry,” 2020    7th International Conference on Behavioural and Social Computing (BESC), Bournemouth, United Kingdom, 2020, pp. 1-4, doi:10.1109/BESC51023.2020.9348301.</a:t>
            </a:r>
          </a:p>
          <a:p>
            <a:pPr>
              <a:buFont typeface="Arial" panose="02110004020202020204"/>
              <a:buChar char="•"/>
            </a:pPr>
            <a:endParaRPr lang="en-IN" sz="1100">
              <a:latin typeface="Arial"/>
              <a:ea typeface="+mn-lt"/>
              <a:cs typeface="+mn-lt"/>
            </a:endParaRPr>
          </a:p>
          <a:p>
            <a:pPr marL="342900" indent="-342900">
              <a:buAutoNum type="arabicPeriod" startAt="10"/>
            </a:pPr>
            <a:endParaRPr lang="en-IN" sz="11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56CE857-8B73-2D07-9643-D734F602F9FA}"/>
              </a:ext>
            </a:extLst>
          </p:cNvPr>
          <p:cNvSpPr>
            <a:spLocks noGrp="1"/>
          </p:cNvSpPr>
          <p:nvPr>
            <p:ph type="sldNum" sz="quarter" idx="12"/>
          </p:nvPr>
        </p:nvSpPr>
        <p:spPr>
          <a:xfrm>
            <a:off x="11704320" y="6455664"/>
            <a:ext cx="448056" cy="365125"/>
          </a:xfrm>
        </p:spPr>
        <p:txBody>
          <a:bodyPr>
            <a:normAutofit/>
          </a:bodyPr>
          <a:lstStyle/>
          <a:p>
            <a:pPr>
              <a:spcAft>
                <a:spcPts val="600"/>
              </a:spcAft>
            </a:pPr>
            <a:fld id="{71766878-3199-4EAB-94E7-2D6D11070E14}" type="slidenum">
              <a:rPr lang="en-US" sz="1100">
                <a:solidFill>
                  <a:schemeClr val="tx1">
                    <a:lumMod val="50000"/>
                    <a:lumOff val="50000"/>
                  </a:schemeClr>
                </a:solidFill>
              </a:rPr>
              <a:pPr>
                <a:spcAft>
                  <a:spcPts val="600"/>
                </a:spcAft>
              </a:pPr>
              <a:t>19</a:t>
            </a:fld>
            <a:endParaRPr lang="en-US" sz="1100">
              <a:solidFill>
                <a:schemeClr val="tx1">
                  <a:lumMod val="50000"/>
                  <a:lumOff val="50000"/>
                </a:schemeClr>
              </a:solidFill>
            </a:endParaRPr>
          </a:p>
        </p:txBody>
      </p:sp>
    </p:spTree>
    <p:extLst>
      <p:ext uri="{BB962C8B-B14F-4D97-AF65-F5344CB8AC3E}">
        <p14:creationId xmlns:p14="http://schemas.microsoft.com/office/powerpoint/2010/main" val="3409335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ADEA89-3CFC-3EF3-538A-4C5900149E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9188B1-7974-8D02-02F5-09D4A319E5D1}"/>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References</a:t>
            </a:r>
          </a:p>
        </p:txBody>
      </p:sp>
      <p:sp>
        <p:nvSpPr>
          <p:cNvPr id="2" name="Content Placeholder 1">
            <a:extLst>
              <a:ext uri="{FF2B5EF4-FFF2-40B4-BE49-F238E27FC236}">
                <a16:creationId xmlns:a16="http://schemas.microsoft.com/office/drawing/2014/main" id="{79DD6E6E-F7B8-050B-EBA0-0D5371BF4A0F}"/>
              </a:ext>
            </a:extLst>
          </p:cNvPr>
          <p:cNvSpPr>
            <a:spLocks noGrp="1"/>
          </p:cNvSpPr>
          <p:nvPr>
            <p:ph idx="1"/>
          </p:nvPr>
        </p:nvSpPr>
        <p:spPr>
          <a:xfrm>
            <a:off x="186168" y="582851"/>
            <a:ext cx="11746697" cy="5870109"/>
          </a:xfrm>
        </p:spPr>
        <p:txBody>
          <a:bodyPr vert="horz" lIns="91440" tIns="45720" rIns="91440" bIns="45720" rtlCol="0" anchor="ctr">
            <a:noAutofit/>
          </a:bodyPr>
          <a:lstStyle/>
          <a:p>
            <a:pPr>
              <a:buNone/>
            </a:pPr>
            <a:r>
              <a:rPr lang="en-IN" sz="1600">
                <a:latin typeface="Times New Roman"/>
                <a:ea typeface="+mn-lt"/>
                <a:cs typeface="+mn-lt"/>
              </a:rPr>
              <a:t>[22] A. Vinora, V. Surya, E. Lloyds, B. Kathir Pandian, R. N. Deborah and A. Gobinath, ”An Efficient Health Insurance Prediction System using Machine learning,” 2023 International Conference on Innovative Computing, Intelligent Communication and Smart Electrical Systems (ICSES), Chennai, India, 2023, pp. 1-5, </a:t>
            </a:r>
            <a:r>
              <a:rPr lang="en-IN" sz="1600" err="1">
                <a:latin typeface="Times New Roman"/>
                <a:ea typeface="+mn-lt"/>
                <a:cs typeface="+mn-lt"/>
              </a:rPr>
              <a:t>doi</a:t>
            </a:r>
            <a:r>
              <a:rPr lang="en-IN" sz="1600">
                <a:latin typeface="Times New Roman"/>
                <a:ea typeface="+mn-lt"/>
                <a:cs typeface="+mn-lt"/>
              </a:rPr>
              <a:t>: 10.1109/IC-SES60034.2023.10465334.</a:t>
            </a:r>
            <a:endParaRPr lang="en-IN" sz="1600">
              <a:latin typeface="Times New Roman"/>
              <a:cs typeface="Times New Roman"/>
            </a:endParaRPr>
          </a:p>
          <a:p>
            <a:pPr>
              <a:buNone/>
            </a:pPr>
            <a:r>
              <a:rPr lang="en-IN" sz="1600">
                <a:latin typeface="Times New Roman"/>
                <a:ea typeface="+mn-lt"/>
                <a:cs typeface="+mn-lt"/>
              </a:rPr>
              <a:t>[23] P. Singh, K. D. Singh, V. Tripathi and V. Chaudhari, ”Use of Ensemble Based Approach to Predict Health Insurance Premium at Early Stage,” 2022 International Conference on Computational Intelligence and Sustainable Engineering Solutions (CISES), Greater Noida, India, 2022, pp.566-569, </a:t>
            </a:r>
            <a:r>
              <a:rPr lang="en-IN" sz="1600" err="1">
                <a:latin typeface="Times New Roman"/>
                <a:ea typeface="+mn-lt"/>
                <a:cs typeface="+mn-lt"/>
              </a:rPr>
              <a:t>doi</a:t>
            </a:r>
            <a:r>
              <a:rPr lang="en-IN" sz="1600">
                <a:latin typeface="Times New Roman"/>
                <a:ea typeface="+mn-lt"/>
                <a:cs typeface="+mn-lt"/>
              </a:rPr>
              <a:t>: 10.1109/CISES54857.2022.9844398.</a:t>
            </a:r>
            <a:endParaRPr lang="en-IN" sz="1600">
              <a:latin typeface="Times New Roman"/>
              <a:cs typeface="Times New Roman"/>
            </a:endParaRPr>
          </a:p>
          <a:p>
            <a:pPr>
              <a:buNone/>
            </a:pPr>
            <a:r>
              <a:rPr lang="en-IN" sz="1600">
                <a:latin typeface="Times New Roman"/>
                <a:ea typeface="+mn-lt"/>
                <a:cs typeface="+mn-lt"/>
              </a:rPr>
              <a:t>[24] </a:t>
            </a:r>
            <a:r>
              <a:rPr lang="en-IN" sz="1600" err="1">
                <a:latin typeface="Times New Roman"/>
                <a:ea typeface="+mn-lt"/>
                <a:cs typeface="+mn-lt"/>
              </a:rPr>
              <a:t>Inayatulloh</a:t>
            </a:r>
            <a:r>
              <a:rPr lang="en-IN" sz="1600">
                <a:latin typeface="Times New Roman"/>
                <a:ea typeface="+mn-lt"/>
                <a:cs typeface="+mn-lt"/>
              </a:rPr>
              <a:t>, R. </a:t>
            </a:r>
            <a:r>
              <a:rPr lang="en-IN" sz="1600" err="1">
                <a:latin typeface="Times New Roman"/>
                <a:ea typeface="+mn-lt"/>
                <a:cs typeface="+mn-lt"/>
              </a:rPr>
              <a:t>Toyib</a:t>
            </a:r>
            <a:r>
              <a:rPr lang="en-IN" sz="1600">
                <a:latin typeface="Times New Roman"/>
                <a:ea typeface="+mn-lt"/>
                <a:cs typeface="+mn-lt"/>
              </a:rPr>
              <a:t>, E. </a:t>
            </a:r>
            <a:r>
              <a:rPr lang="en-IN" sz="1600" err="1">
                <a:latin typeface="Times New Roman"/>
                <a:ea typeface="+mn-lt"/>
                <a:cs typeface="+mn-lt"/>
              </a:rPr>
              <a:t>Sahputra</a:t>
            </a:r>
            <a:r>
              <a:rPr lang="en-IN" sz="1600">
                <a:latin typeface="Times New Roman"/>
                <a:ea typeface="+mn-lt"/>
                <a:cs typeface="+mn-lt"/>
              </a:rPr>
              <a:t>, Y. Reswan, Y. Darmi and </a:t>
            </a:r>
            <a:r>
              <a:rPr lang="en-IN" sz="1600" err="1">
                <a:latin typeface="Times New Roman"/>
                <a:ea typeface="+mn-lt"/>
                <a:cs typeface="+mn-lt"/>
              </a:rPr>
              <a:t>Meisyarah</a:t>
            </a:r>
            <a:r>
              <a:rPr lang="en-IN" sz="1600">
                <a:latin typeface="Times New Roman"/>
                <a:ea typeface="+mn-lt"/>
                <a:cs typeface="+mn-lt"/>
              </a:rPr>
              <a:t>, ”Adoption Block Chain Technology and Internet of Thing for Medical Record in Health Insurance,” 2022 13th International Conference on Information and Communication Technology Convergence (ICTC), Jeju Island, Korea, Republic of, 2022, pp. 1539-1542, doi:10.1109/ICTC55196.2022.9952723.</a:t>
            </a:r>
            <a:endParaRPr lang="en-IN" sz="1600">
              <a:latin typeface="Times New Roman"/>
              <a:cs typeface="Times New Roman"/>
            </a:endParaRPr>
          </a:p>
          <a:p>
            <a:pPr>
              <a:buNone/>
            </a:pPr>
            <a:r>
              <a:rPr lang="en-IN" sz="1600">
                <a:latin typeface="Times New Roman"/>
                <a:ea typeface="+mn-lt"/>
                <a:cs typeface="+mn-lt"/>
              </a:rPr>
              <a:t>[25] K. W. </a:t>
            </a:r>
            <a:r>
              <a:rPr lang="en-IN" sz="1600" err="1">
                <a:latin typeface="Times New Roman"/>
                <a:ea typeface="+mn-lt"/>
                <a:cs typeface="+mn-lt"/>
              </a:rPr>
              <a:t>Wedanage</a:t>
            </a:r>
            <a:r>
              <a:rPr lang="en-IN" sz="1600">
                <a:latin typeface="Times New Roman"/>
                <a:ea typeface="+mn-lt"/>
                <a:cs typeface="+mn-lt"/>
              </a:rPr>
              <a:t>, R. </a:t>
            </a:r>
            <a:r>
              <a:rPr lang="en-IN" sz="1600" err="1">
                <a:latin typeface="Times New Roman"/>
                <a:ea typeface="+mn-lt"/>
                <a:cs typeface="+mn-lt"/>
              </a:rPr>
              <a:t>Wickramasuriya</a:t>
            </a:r>
            <a:r>
              <a:rPr lang="en-IN" sz="1600">
                <a:latin typeface="Times New Roman"/>
                <a:ea typeface="+mn-lt"/>
                <a:cs typeface="+mn-lt"/>
              </a:rPr>
              <a:t>, K. T. Win and P. Perez, ”Forecasting healthcare cost in Australia using health insurance claims data,” 2021 17th International Computer Engineering Conference (ICENCO), Cairo, Egypt, 2021, pp. 35-39, </a:t>
            </a:r>
            <a:r>
              <a:rPr lang="en-IN" sz="1600" err="1">
                <a:latin typeface="Times New Roman"/>
                <a:ea typeface="+mn-lt"/>
                <a:cs typeface="+mn-lt"/>
              </a:rPr>
              <a:t>doi</a:t>
            </a:r>
            <a:r>
              <a:rPr lang="en-IN" sz="1600">
                <a:latin typeface="Times New Roman"/>
                <a:ea typeface="+mn-lt"/>
                <a:cs typeface="+mn-lt"/>
              </a:rPr>
              <a:t>: 10.1109/ICENCO49852.2021.9698885.</a:t>
            </a:r>
            <a:endParaRPr lang="en-IN" sz="1600">
              <a:latin typeface="Times New Roman"/>
              <a:cs typeface="Times New Roman"/>
            </a:endParaRPr>
          </a:p>
          <a:p>
            <a:pPr>
              <a:buNone/>
            </a:pPr>
            <a:r>
              <a:rPr lang="en-IN" sz="1600">
                <a:latin typeface="Times New Roman"/>
                <a:ea typeface="+mn-lt"/>
                <a:cs typeface="+mn-lt"/>
              </a:rPr>
              <a:t>[26] Y. Xu and M. Shi, ”Research on optimal mixed health insurance contact based on risk sharing,” 2016 International Conference on Industrial Economics System and Industrial Security Engineering (IEIS), Sydney, NSW, Australia, 2016, pp. 1-5, </a:t>
            </a:r>
            <a:r>
              <a:rPr lang="en-IN" sz="1600" err="1">
                <a:latin typeface="Times New Roman"/>
                <a:ea typeface="+mn-lt"/>
                <a:cs typeface="+mn-lt"/>
              </a:rPr>
              <a:t>doi</a:t>
            </a:r>
            <a:r>
              <a:rPr lang="en-IN" sz="1600">
                <a:latin typeface="Times New Roman"/>
                <a:ea typeface="+mn-lt"/>
                <a:cs typeface="+mn-lt"/>
              </a:rPr>
              <a:t>: 10.1109/IEIS.2016.7551880.</a:t>
            </a:r>
            <a:endParaRPr lang="en-IN" sz="1600">
              <a:latin typeface="Times New Roman"/>
              <a:cs typeface="Times New Roman"/>
            </a:endParaRPr>
          </a:p>
          <a:p>
            <a:pPr>
              <a:buNone/>
            </a:pPr>
            <a:r>
              <a:rPr lang="en-IN" sz="1600">
                <a:latin typeface="Times New Roman"/>
                <a:ea typeface="+mn-lt"/>
                <a:cs typeface="+mn-lt"/>
              </a:rPr>
              <a:t>[27] L. </a:t>
            </a:r>
            <a:r>
              <a:rPr lang="en-IN" sz="1600" err="1">
                <a:latin typeface="Times New Roman"/>
                <a:ea typeface="+mn-lt"/>
                <a:cs typeface="+mn-lt"/>
              </a:rPr>
              <a:t>Xiaoqun</a:t>
            </a:r>
            <a:r>
              <a:rPr lang="en-IN" sz="1600">
                <a:latin typeface="Times New Roman"/>
                <a:ea typeface="+mn-lt"/>
                <a:cs typeface="+mn-lt"/>
              </a:rPr>
              <a:t> and L. Run, ”An Improved K-means Clustering Model Based on Support Vector Machine for Health Insurance Cost Prediction,” 2022 IEEE 2nd International Conference on Electronic Technology, Communication and Information (ICETCI), Changchun, China, 2022,pp. 521-525, </a:t>
            </a:r>
            <a:r>
              <a:rPr lang="en-IN" sz="1600" err="1">
                <a:latin typeface="Times New Roman"/>
                <a:ea typeface="+mn-lt"/>
                <a:cs typeface="+mn-lt"/>
              </a:rPr>
              <a:t>doi</a:t>
            </a:r>
            <a:r>
              <a:rPr lang="en-IN" sz="1600">
                <a:latin typeface="Times New Roman"/>
                <a:ea typeface="+mn-lt"/>
                <a:cs typeface="+mn-lt"/>
              </a:rPr>
              <a:t>: 10.1109/ICETCI55101.2022.9832085.</a:t>
            </a:r>
            <a:endParaRPr lang="en-IN" sz="1600">
              <a:latin typeface="Times New Roman"/>
              <a:cs typeface="Times New Roman"/>
            </a:endParaRPr>
          </a:p>
          <a:p>
            <a:pPr>
              <a:buNone/>
            </a:pPr>
            <a:r>
              <a:rPr lang="en-IN" sz="1600">
                <a:latin typeface="Times New Roman"/>
                <a:ea typeface="+mn-lt"/>
                <a:cs typeface="+mn-lt"/>
              </a:rPr>
              <a:t>[28] H. Pingping, ”Analysis of Urban Employee Basic Medical Insurance in Beijing,” 2023 16th International Conference Management of large-scale system development (MLSD), Moscow, Russian Federation, 2023, pp.1-5, </a:t>
            </a:r>
            <a:r>
              <a:rPr lang="en-IN" sz="1600" err="1">
                <a:latin typeface="Times New Roman"/>
                <a:ea typeface="+mn-lt"/>
                <a:cs typeface="+mn-lt"/>
              </a:rPr>
              <a:t>doi</a:t>
            </a:r>
            <a:r>
              <a:rPr lang="en-IN" sz="1600">
                <a:latin typeface="Times New Roman"/>
                <a:ea typeface="+mn-lt"/>
                <a:cs typeface="+mn-lt"/>
              </a:rPr>
              <a:t>: 10.1109/MLSD58227.2023.10303931.</a:t>
            </a:r>
            <a:endParaRPr lang="en-IN" sz="1600">
              <a:latin typeface="Times New Roman"/>
              <a:cs typeface="Times New Roman"/>
            </a:endParaRPr>
          </a:p>
          <a:p>
            <a:pPr>
              <a:buNone/>
            </a:pPr>
            <a:endParaRPr lang="en-IN" sz="1600">
              <a:latin typeface="Times New Roman"/>
              <a:ea typeface="+mn-lt"/>
              <a:cs typeface="+mn-lt"/>
            </a:endParaRPr>
          </a:p>
          <a:p>
            <a:pPr>
              <a:buFont typeface="Arial" panose="02110004020202020204"/>
              <a:buChar char="•"/>
            </a:pPr>
            <a:endParaRPr lang="en-IN" sz="1100">
              <a:latin typeface="Arial"/>
              <a:ea typeface="+mn-lt"/>
              <a:cs typeface="+mn-lt"/>
            </a:endParaRPr>
          </a:p>
          <a:p>
            <a:pPr marL="342900" indent="-342900">
              <a:buAutoNum type="arabicPeriod" startAt="10"/>
            </a:pPr>
            <a:endParaRPr lang="en-IN" sz="11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56CE857-8B73-2D07-9643-D734F602F9FA}"/>
              </a:ext>
            </a:extLst>
          </p:cNvPr>
          <p:cNvSpPr>
            <a:spLocks noGrp="1"/>
          </p:cNvSpPr>
          <p:nvPr>
            <p:ph type="sldNum" sz="quarter" idx="12"/>
          </p:nvPr>
        </p:nvSpPr>
        <p:spPr>
          <a:xfrm>
            <a:off x="11704320" y="6455664"/>
            <a:ext cx="448056" cy="365125"/>
          </a:xfrm>
        </p:spPr>
        <p:txBody>
          <a:bodyPr>
            <a:normAutofit/>
          </a:bodyPr>
          <a:lstStyle/>
          <a:p>
            <a:pPr>
              <a:spcAft>
                <a:spcPts val="600"/>
              </a:spcAft>
            </a:pPr>
            <a:fld id="{71766878-3199-4EAB-94E7-2D6D11070E14}" type="slidenum">
              <a:rPr lang="en-US" sz="1100">
                <a:solidFill>
                  <a:schemeClr val="tx1">
                    <a:lumMod val="50000"/>
                    <a:lumOff val="50000"/>
                  </a:schemeClr>
                </a:solidFill>
              </a:rPr>
              <a:pPr>
                <a:spcAft>
                  <a:spcPts val="600"/>
                </a:spcAft>
              </a:pPr>
              <a:t>20</a:t>
            </a:fld>
            <a:endParaRPr lang="en-US" sz="1100">
              <a:solidFill>
                <a:schemeClr val="tx1">
                  <a:lumMod val="50000"/>
                  <a:lumOff val="50000"/>
                </a:schemeClr>
              </a:solidFill>
            </a:endParaRPr>
          </a:p>
        </p:txBody>
      </p:sp>
    </p:spTree>
    <p:extLst>
      <p:ext uri="{BB962C8B-B14F-4D97-AF65-F5344CB8AC3E}">
        <p14:creationId xmlns:p14="http://schemas.microsoft.com/office/powerpoint/2010/main" val="315051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AD13F-3FAF-51D6-4F52-088FADC681B6}"/>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sz="6000" kern="1200">
                <a:latin typeface="+mj-lt"/>
                <a:ea typeface="+mj-ea"/>
                <a:cs typeface="+mj-cs"/>
              </a:rPr>
              <a:t>Thank </a:t>
            </a:r>
            <a:r>
              <a:rPr lang="en-US" sz="6000"/>
              <a:t>Y</a:t>
            </a:r>
            <a:r>
              <a:rPr lang="en-US" sz="6000" kern="1200">
                <a:latin typeface="+mj-lt"/>
                <a:ea typeface="+mj-ea"/>
                <a:cs typeface="+mj-cs"/>
              </a:rPr>
              <a:t>ou!</a:t>
            </a:r>
            <a:br>
              <a:rPr lang="en-US" sz="6000" kern="1200"/>
            </a:br>
            <a:endParaRPr lang="en-US" sz="6000" kern="1200">
              <a:latin typeface="+mj-lt"/>
            </a:endParaRPr>
          </a:p>
        </p:txBody>
      </p:sp>
    </p:spTree>
    <p:extLst>
      <p:ext uri="{BB962C8B-B14F-4D97-AF65-F5344CB8AC3E}">
        <p14:creationId xmlns:p14="http://schemas.microsoft.com/office/powerpoint/2010/main" val="11814373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3148</Words>
  <Application>Microsoft Office PowerPoint</Application>
  <PresentationFormat>Widescreen</PresentationFormat>
  <Paragraphs>126</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Beirut</vt:lpstr>
      <vt:lpstr>Georgia</vt:lpstr>
      <vt:lpstr>Times New Roman</vt:lpstr>
      <vt:lpstr>Office Theme</vt:lpstr>
      <vt:lpstr>PowerPoint Presentation</vt:lpstr>
      <vt:lpstr>Overview</vt:lpstr>
      <vt:lpstr>Introduction</vt:lpstr>
      <vt:lpstr>PowerPoint Presentation</vt:lpstr>
      <vt:lpstr>BACKROUND AND MOTIVATION</vt:lpstr>
      <vt:lpstr>LITERATURE REVIEW</vt:lpstr>
      <vt:lpstr>System Architecture</vt:lpstr>
      <vt:lpstr>PowerPoint Presentation</vt:lpstr>
      <vt:lpstr>PowerPoint Presentation</vt:lpstr>
      <vt:lpstr>PowerPoint Presentation</vt:lpstr>
      <vt:lpstr>RESULT AND ANALYSIS:</vt:lpstr>
      <vt:lpstr>Results and Analysis</vt:lpstr>
      <vt:lpstr>RESULT AND ANALYSIS: lts and Analysis</vt:lpstr>
      <vt:lpstr>RESULT AND ANALYSIS:</vt:lpstr>
      <vt:lpstr>RESULT AND ANALYSIS:</vt:lpstr>
      <vt:lpstr>Conclusions</vt:lpstr>
      <vt:lpstr>Future Works</vt:lpstr>
      <vt:lpstr>Refernces</vt:lpstr>
      <vt:lpstr>References</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Vinoth</dc:creator>
  <cp:lastModifiedBy>sri priya</cp:lastModifiedBy>
  <cp:revision>3</cp:revision>
  <dcterms:created xsi:type="dcterms:W3CDTF">2024-11-20T12:26:03Z</dcterms:created>
  <dcterms:modified xsi:type="dcterms:W3CDTF">2024-11-28T04:42:47Z</dcterms:modified>
</cp:coreProperties>
</file>